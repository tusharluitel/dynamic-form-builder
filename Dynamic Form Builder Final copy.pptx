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" charset="1" panose="020F0502020204030204"/>
      <p:regular r:id="rId21"/>
    </p:embeddedFont>
    <p:embeddedFont>
      <p:font typeface="Consolas Bold" charset="1" panose="020B0709020204030204"/>
      <p:regular r:id="rId22"/>
    </p:embeddedFont>
    <p:embeddedFont>
      <p:font typeface="Consolas" charset="1" panose="020B0609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A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07029" y="0"/>
            <a:ext cx="5490686" cy="10295039"/>
            <a:chOff x="0" y="0"/>
            <a:chExt cx="7320915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2091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48" y="1389821"/>
            <a:ext cx="942582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DRUPAL 7 BASED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48" y="1776965"/>
            <a:ext cx="11484835" cy="456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9"/>
              </a:lnSpc>
            </a:pPr>
            <a:r>
              <a:rPr lang="en-US" sz="9607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</a:t>
            </a:r>
          </a:p>
          <a:p>
            <a:pPr algn="l">
              <a:lnSpc>
                <a:spcPts val="11529"/>
              </a:lnSpc>
            </a:pPr>
            <a:r>
              <a:rPr lang="en-US" sz="9607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</a:t>
            </a:r>
          </a:p>
          <a:p>
            <a:pPr algn="l">
              <a:lnSpc>
                <a:spcPts val="11529"/>
              </a:lnSpc>
            </a:pPr>
            <a:r>
              <a:rPr lang="en-US" sz="9607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48" y="7282786"/>
            <a:ext cx="107985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i="true">
                <a:solidFill>
                  <a:srgbClr val="AAAAA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Survey management platform built on Drupal 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48" y="9341796"/>
            <a:ext cx="530780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66666"/>
                </a:solidFill>
                <a:latin typeface="Calibri (MS)"/>
                <a:ea typeface="Calibri (MS)"/>
                <a:cs typeface="Calibri (MS)"/>
                <a:sym typeface="Calibri (MS)"/>
              </a:rPr>
              <a:t>Tushar Luitel · 2025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47538" y="968492"/>
            <a:ext cx="42096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47538" y="1517561"/>
            <a:ext cx="42096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PHP 8.2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47538" y="2450973"/>
            <a:ext cx="42096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Drupal 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47538" y="3384394"/>
            <a:ext cx="42096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MySQL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7538" y="4317816"/>
            <a:ext cx="42096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Apache Solr 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47538" y="5251228"/>
            <a:ext cx="42096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Memcache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47538" y="6184649"/>
            <a:ext cx="42096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REST WS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47538" y="7118061"/>
            <a:ext cx="42096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WebSocket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7538" y="8655453"/>
            <a:ext cx="42096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 CUSTOM MODULES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363" cy="10295039"/>
            <a:chOff x="0" y="0"/>
            <a:chExt cx="10981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5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125588"/>
            <a:chOff x="0" y="0"/>
            <a:chExt cx="24396967" cy="15007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9301" y="287693"/>
            <a:ext cx="1195368" cy="550212"/>
            <a:chOff x="0" y="0"/>
            <a:chExt cx="1593825" cy="7336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3850" cy="733679"/>
            </a:xfrm>
            <a:custGeom>
              <a:avLst/>
              <a:gdLst/>
              <a:ahLst/>
              <a:cxnLst/>
              <a:rect r="r" b="b" t="t" l="l"/>
              <a:pathLst>
                <a:path h="733679" w="1593850">
                  <a:moveTo>
                    <a:pt x="0" y="0"/>
                  </a:moveTo>
                  <a:lnTo>
                    <a:pt x="1593850" y="0"/>
                  </a:lnTo>
                  <a:lnTo>
                    <a:pt x="1593850" y="733679"/>
                  </a:lnTo>
                  <a:lnTo>
                    <a:pt x="0" y="7336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56" t="0" r="-9054" b="8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69950" y="346586"/>
            <a:ext cx="88780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87714" y="281035"/>
            <a:ext cx="272653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Overview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677420" y="1427578"/>
            <a:ext cx="4227833" cy="1509941"/>
            <a:chOff x="0" y="0"/>
            <a:chExt cx="5637111" cy="2013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37149" cy="2013204"/>
            </a:xfrm>
            <a:custGeom>
              <a:avLst/>
              <a:gdLst/>
              <a:ahLst/>
              <a:cxnLst/>
              <a:rect r="r" b="b" t="t" l="l"/>
              <a:pathLst>
                <a:path h="2013204" w="5637149">
                  <a:moveTo>
                    <a:pt x="0" y="0"/>
                  </a:moveTo>
                  <a:lnTo>
                    <a:pt x="5637149" y="0"/>
                  </a:lnTo>
                  <a:lnTo>
                    <a:pt x="5637149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043399" y="1399061"/>
            <a:ext cx="463897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sz="7205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43399" y="2405596"/>
            <a:ext cx="41135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Custom Modules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973881" y="1427578"/>
            <a:ext cx="4227833" cy="1509941"/>
            <a:chOff x="0" y="0"/>
            <a:chExt cx="5637111" cy="2013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37149" cy="2013204"/>
            </a:xfrm>
            <a:custGeom>
              <a:avLst/>
              <a:gdLst/>
              <a:ahLst/>
              <a:cxnLst/>
              <a:rect r="r" b="b" t="t" l="l"/>
              <a:pathLst>
                <a:path h="2013204" w="5637149">
                  <a:moveTo>
                    <a:pt x="0" y="0"/>
                  </a:moveTo>
                  <a:lnTo>
                    <a:pt x="5637149" y="0"/>
                  </a:lnTo>
                  <a:lnTo>
                    <a:pt x="5637149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339860" y="1399061"/>
            <a:ext cx="9276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sz="7205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39860" y="2405596"/>
            <a:ext cx="41135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 Types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70351" y="1427578"/>
            <a:ext cx="4227833" cy="1509941"/>
            <a:chOff x="0" y="0"/>
            <a:chExt cx="5637111" cy="20132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37149" cy="2013204"/>
            </a:xfrm>
            <a:custGeom>
              <a:avLst/>
              <a:gdLst/>
              <a:ahLst/>
              <a:cxnLst/>
              <a:rect r="r" b="b" t="t" l="l"/>
              <a:pathLst>
                <a:path h="2013204" w="5637149">
                  <a:moveTo>
                    <a:pt x="0" y="0"/>
                  </a:moveTo>
                  <a:lnTo>
                    <a:pt x="5637149" y="0"/>
                  </a:lnTo>
                  <a:lnTo>
                    <a:pt x="5637149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636321" y="1399061"/>
            <a:ext cx="9276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sz="7205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36321" y="2405596"/>
            <a:ext cx="41135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Custom Permissions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59765" y="4183351"/>
            <a:ext cx="4035657" cy="1784471"/>
            <a:chOff x="0" y="0"/>
            <a:chExt cx="5380876" cy="23792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80863" cy="2379345"/>
            </a:xfrm>
            <a:custGeom>
              <a:avLst/>
              <a:gdLst/>
              <a:ahLst/>
              <a:cxnLst/>
              <a:rect r="r" b="b" t="t" l="l"/>
              <a:pathLst>
                <a:path h="2379345" w="5380863">
                  <a:moveTo>
                    <a:pt x="0" y="0"/>
                  </a:moveTo>
                  <a:lnTo>
                    <a:pt x="5380863" y="0"/>
                  </a:lnTo>
                  <a:lnTo>
                    <a:pt x="5380863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57107" y="4337771"/>
            <a:ext cx="4667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7107" y="4620701"/>
            <a:ext cx="136743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Form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7107" y="5042030"/>
            <a:ext cx="3660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Admin builds form with sections &amp; questions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36770" y="4863808"/>
            <a:ext cx="27622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932045" y="4169845"/>
            <a:ext cx="4035657" cy="1784471"/>
            <a:chOff x="0" y="0"/>
            <a:chExt cx="5380876" cy="23792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80863" cy="2379345"/>
            </a:xfrm>
            <a:custGeom>
              <a:avLst/>
              <a:gdLst/>
              <a:ahLst/>
              <a:cxnLst/>
              <a:rect r="r" b="b" t="t" l="l"/>
              <a:pathLst>
                <a:path h="2379345" w="5380863">
                  <a:moveTo>
                    <a:pt x="0" y="0"/>
                  </a:moveTo>
                  <a:lnTo>
                    <a:pt x="5380863" y="0"/>
                  </a:lnTo>
                  <a:lnTo>
                    <a:pt x="5380863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5229387" y="4324264"/>
            <a:ext cx="4667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29387" y="4607195"/>
            <a:ext cx="63043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29387" y="5028524"/>
            <a:ext cx="3660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Invite members by email or make public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94416" y="4863808"/>
            <a:ext cx="27622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91315" y="4169845"/>
            <a:ext cx="4035657" cy="1784471"/>
            <a:chOff x="0" y="0"/>
            <a:chExt cx="5380876" cy="237929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80863" cy="2379345"/>
            </a:xfrm>
            <a:custGeom>
              <a:avLst/>
              <a:gdLst/>
              <a:ahLst/>
              <a:cxnLst/>
              <a:rect r="r" b="b" t="t" l="l"/>
              <a:pathLst>
                <a:path h="2379345" w="5380863">
                  <a:moveTo>
                    <a:pt x="0" y="0"/>
                  </a:moveTo>
                  <a:lnTo>
                    <a:pt x="5380863" y="0"/>
                  </a:lnTo>
                  <a:lnTo>
                    <a:pt x="5380863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488657" y="4324264"/>
            <a:ext cx="4667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88657" y="4607195"/>
            <a:ext cx="96425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88657" y="5028524"/>
            <a:ext cx="3660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Respondents fill form; drafts auto-save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085712" y="4852092"/>
            <a:ext cx="27622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450586" y="4174388"/>
            <a:ext cx="4035657" cy="1784471"/>
            <a:chOff x="0" y="0"/>
            <a:chExt cx="5380876" cy="237929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80863" cy="2379345"/>
            </a:xfrm>
            <a:custGeom>
              <a:avLst/>
              <a:gdLst/>
              <a:ahLst/>
              <a:cxnLst/>
              <a:rect r="r" b="b" t="t" l="l"/>
              <a:pathLst>
                <a:path h="2379345" w="5380863">
                  <a:moveTo>
                    <a:pt x="0" y="0"/>
                  </a:moveTo>
                  <a:lnTo>
                    <a:pt x="5380863" y="0"/>
                  </a:lnTo>
                  <a:lnTo>
                    <a:pt x="5380863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3742260" y="4428820"/>
            <a:ext cx="4667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47928" y="4611738"/>
            <a:ext cx="86960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747928" y="5033067"/>
            <a:ext cx="3660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View responses, filter via Solr, export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05466" y="6167847"/>
            <a:ext cx="256246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77777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MODULES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799729" y="6557724"/>
            <a:ext cx="1977790" cy="495310"/>
            <a:chOff x="0" y="0"/>
            <a:chExt cx="2637053" cy="66041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37028" cy="660400"/>
            </a:xfrm>
            <a:custGeom>
              <a:avLst/>
              <a:gdLst/>
              <a:ahLst/>
              <a:cxnLst/>
              <a:rect r="r" b="b" t="t" l="l"/>
              <a:pathLst>
                <a:path h="660400" w="2637028">
                  <a:moveTo>
                    <a:pt x="0" y="0"/>
                  </a:moveTo>
                  <a:lnTo>
                    <a:pt x="2637028" y="0"/>
                  </a:lnTo>
                  <a:lnTo>
                    <a:pt x="2637028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05" r="0" b="-27806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042730" y="6653603"/>
            <a:ext cx="162905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dynamic_form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2954817" y="6557724"/>
            <a:ext cx="3027883" cy="495310"/>
            <a:chOff x="0" y="0"/>
            <a:chExt cx="4037178" cy="66041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37203" cy="660400"/>
            </a:xfrm>
            <a:custGeom>
              <a:avLst/>
              <a:gdLst/>
              <a:ahLst/>
              <a:cxnLst/>
              <a:rect r="r" b="b" t="t" l="l"/>
              <a:pathLst>
                <a:path h="660400" w="4037203">
                  <a:moveTo>
                    <a:pt x="0" y="0"/>
                  </a:moveTo>
                  <a:lnTo>
                    <a:pt x="4037203" y="0"/>
                  </a:lnTo>
                  <a:lnTo>
                    <a:pt x="4037203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115" r="0" b="-69117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3197828" y="6653603"/>
            <a:ext cx="267914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dynamic_form_response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160008" y="6557724"/>
            <a:ext cx="2794530" cy="495310"/>
            <a:chOff x="0" y="0"/>
            <a:chExt cx="3726040" cy="66041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26053" cy="660400"/>
            </a:xfrm>
            <a:custGeom>
              <a:avLst/>
              <a:gdLst/>
              <a:ahLst/>
              <a:cxnLst/>
              <a:rect r="r" b="b" t="t" l="l"/>
              <a:pathLst>
                <a:path h="660400" w="3726053">
                  <a:moveTo>
                    <a:pt x="0" y="0"/>
                  </a:moveTo>
                  <a:lnTo>
                    <a:pt x="3726053" y="0"/>
                  </a:lnTo>
                  <a:lnTo>
                    <a:pt x="3726053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35" r="0" b="-59937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6403019" y="6653603"/>
            <a:ext cx="244579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dynamic_form_export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131846" y="6557724"/>
            <a:ext cx="3144564" cy="495310"/>
            <a:chOff x="0" y="0"/>
            <a:chExt cx="4192753" cy="66041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192778" cy="660400"/>
            </a:xfrm>
            <a:custGeom>
              <a:avLst/>
              <a:gdLst/>
              <a:ahLst/>
              <a:cxnLst/>
              <a:rect r="r" b="b" t="t" l="l"/>
              <a:pathLst>
                <a:path h="660400" w="4192778">
                  <a:moveTo>
                    <a:pt x="0" y="0"/>
                  </a:moveTo>
                  <a:lnTo>
                    <a:pt x="4192778" y="0"/>
                  </a:lnTo>
                  <a:lnTo>
                    <a:pt x="4192778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05" r="0" b="-73707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9374857" y="6653603"/>
            <a:ext cx="279581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dynamic_form_analytics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453718" y="6557724"/>
            <a:ext cx="2561177" cy="495310"/>
            <a:chOff x="0" y="0"/>
            <a:chExt cx="3414903" cy="66041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414903" cy="660400"/>
            </a:xfrm>
            <a:custGeom>
              <a:avLst/>
              <a:gdLst/>
              <a:ahLst/>
              <a:cxnLst/>
              <a:rect r="r" b="b" t="t" l="l"/>
              <a:pathLst>
                <a:path h="660400" w="3414903">
                  <a:moveTo>
                    <a:pt x="0" y="0"/>
                  </a:moveTo>
                  <a:lnTo>
                    <a:pt x="3414903" y="0"/>
                  </a:lnTo>
                  <a:lnTo>
                    <a:pt x="3414903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755" r="0" b="-50757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12696720" y="6653603"/>
            <a:ext cx="22124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dynamic_form_solr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125588"/>
            <a:chOff x="0" y="0"/>
            <a:chExt cx="24396967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301" y="287693"/>
            <a:ext cx="1195368" cy="550212"/>
            <a:chOff x="0" y="0"/>
            <a:chExt cx="1593825" cy="733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3850" cy="733679"/>
            </a:xfrm>
            <a:custGeom>
              <a:avLst/>
              <a:gdLst/>
              <a:ahLst/>
              <a:cxnLst/>
              <a:rect r="r" b="b" t="t" l="l"/>
              <a:pathLst>
                <a:path h="733679" w="1593850">
                  <a:moveTo>
                    <a:pt x="0" y="0"/>
                  </a:moveTo>
                  <a:lnTo>
                    <a:pt x="1593850" y="0"/>
                  </a:lnTo>
                  <a:lnTo>
                    <a:pt x="1593850" y="733679"/>
                  </a:lnTo>
                  <a:lnTo>
                    <a:pt x="0" y="7336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56" t="0" r="-9054" b="8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69950" y="346586"/>
            <a:ext cx="88780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SCHEMA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7714" y="281035"/>
            <a:ext cx="280689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Schema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12136" y="364512"/>
            <a:ext cx="558234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i="true">
                <a:solidFill>
                  <a:srgbClr val="E91E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</a:t>
            </a:r>
            <a:r>
              <a:rPr lang="en-US" sz="1501" i="true">
                <a:solidFill>
                  <a:srgbClr val="E91E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ables use soft-delete via deleted_at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3608" y="3081177"/>
            <a:ext cx="75495" cy="549069"/>
            <a:chOff x="0" y="0"/>
            <a:chExt cx="100660" cy="7320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9103" y="3081177"/>
            <a:ext cx="8112490" cy="549069"/>
            <a:chOff x="0" y="0"/>
            <a:chExt cx="10816654" cy="7320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27808" y="3157424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dynamic_form_forms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7808" y="3441488"/>
            <a:ext cx="694461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title, slug, status, visibility, question_per_page, opens_at, closes_at, allow_multiple_submissions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6132" y="3081177"/>
            <a:ext cx="75495" cy="549069"/>
            <a:chOff x="0" y="0"/>
            <a:chExt cx="100660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61627" y="3081177"/>
            <a:ext cx="8112490" cy="549069"/>
            <a:chOff x="0" y="0"/>
            <a:chExt cx="10816654" cy="7320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590332" y="3157424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dynamic_form_responses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90332" y="3441488"/>
            <a:ext cx="59415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form_id, user_id, status (0=draft / 1=submitted), anonymous_email, submitted_at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3608" y="3712598"/>
            <a:ext cx="75495" cy="549069"/>
            <a:chOff x="0" y="0"/>
            <a:chExt cx="100660" cy="7320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99103" y="3712598"/>
            <a:ext cx="8112490" cy="549069"/>
            <a:chOff x="0" y="0"/>
            <a:chExt cx="10816654" cy="7320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27808" y="3788856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dynamic_form_sections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7808" y="4072920"/>
            <a:ext cx="275153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form_id, name, description, position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86132" y="3712598"/>
            <a:ext cx="75495" cy="549069"/>
            <a:chOff x="0" y="0"/>
            <a:chExt cx="100660" cy="7320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61627" y="3712598"/>
            <a:ext cx="8112490" cy="549069"/>
            <a:chOff x="0" y="0"/>
            <a:chExt cx="10816654" cy="7320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590332" y="3788856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dynamic_form_answers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90332" y="4072920"/>
            <a:ext cx="457319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response_id, question_id, value (text), created_at, updated_at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23608" y="4344030"/>
            <a:ext cx="75495" cy="549069"/>
            <a:chOff x="0" y="0"/>
            <a:chExt cx="100660" cy="7320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99103" y="4344030"/>
            <a:ext cx="8112490" cy="549069"/>
            <a:chOff x="0" y="0"/>
            <a:chExt cx="10816654" cy="7320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27808" y="4420287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dynamic_form_questions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7808" y="4704341"/>
            <a:ext cx="76048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form_id, section_id, label, type, is_required, is_readonly, width, allow_file_types, max_file_size, max_files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286132" y="4344030"/>
            <a:ext cx="75495" cy="549069"/>
            <a:chOff x="0" y="0"/>
            <a:chExt cx="100660" cy="7320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361627" y="4344030"/>
            <a:ext cx="8112490" cy="549069"/>
            <a:chOff x="0" y="0"/>
            <a:chExt cx="10816654" cy="7320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590332" y="4420287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dynamic_form_answer_files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90332" y="4704341"/>
            <a:ext cx="375180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answer_id, file_path, file_name, file_type, file_size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23608" y="4975461"/>
            <a:ext cx="75495" cy="549069"/>
            <a:chOff x="0" y="0"/>
            <a:chExt cx="100660" cy="7320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99103" y="4975461"/>
            <a:ext cx="8112490" cy="549069"/>
            <a:chOff x="0" y="0"/>
            <a:chExt cx="10816654" cy="7320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127808" y="5051718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dynamic_form_question_options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27808" y="5335773"/>
            <a:ext cx="348347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question_id, option_label, position, deleted_at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286132" y="4975461"/>
            <a:ext cx="75495" cy="549069"/>
            <a:chOff x="0" y="0"/>
            <a:chExt cx="100660" cy="7320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361627" y="4975461"/>
            <a:ext cx="8112490" cy="549069"/>
            <a:chOff x="0" y="0"/>
            <a:chExt cx="10816654" cy="7320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9590332" y="5051718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dynamic_form_members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590332" y="5335773"/>
            <a:ext cx="351174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form_id, user_id, role (editor | form_applicant)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823608" y="5606892"/>
            <a:ext cx="75495" cy="549069"/>
            <a:chOff x="0" y="0"/>
            <a:chExt cx="100660" cy="7320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99103" y="5606892"/>
            <a:ext cx="8112490" cy="549069"/>
            <a:chOff x="0" y="0"/>
            <a:chExt cx="10816654" cy="7320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127808" y="5683140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dynamic_form_question_validations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27808" y="5967204"/>
            <a:ext cx="698896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question_id, rule_type, rule_value, error_message — also holds scale_min/max &amp; allow_multiple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286132" y="5606892"/>
            <a:ext cx="75495" cy="549069"/>
            <a:chOff x="0" y="0"/>
            <a:chExt cx="100660" cy="7320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361627" y="5606892"/>
            <a:ext cx="8112490" cy="549069"/>
            <a:chOff x="0" y="0"/>
            <a:chExt cx="10816654" cy="7320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9590332" y="5683140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dynamic_form_invitations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590332" y="5967204"/>
            <a:ext cx="369227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form_id, email, role, token, expires_at, invited_by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823608" y="6238324"/>
            <a:ext cx="75495" cy="549069"/>
            <a:chOff x="0" y="0"/>
            <a:chExt cx="100660" cy="7320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99103" y="6238324"/>
            <a:ext cx="8112490" cy="549069"/>
            <a:chOff x="0" y="0"/>
            <a:chExt cx="10816654" cy="7320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127808" y="6314571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dynamic_form_tags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27808" y="6598635"/>
            <a:ext cx="28399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name (unique, normalised lowercase)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286132" y="6238324"/>
            <a:ext cx="75495" cy="549069"/>
            <a:chOff x="0" y="0"/>
            <a:chExt cx="100660" cy="7320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0711" cy="732155"/>
            </a:xfrm>
            <a:custGeom>
              <a:avLst/>
              <a:gdLst/>
              <a:ahLst/>
              <a:cxnLst/>
              <a:rect r="r" b="b" t="t" l="l"/>
              <a:pathLst>
                <a:path h="73215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361627" y="6238324"/>
            <a:ext cx="8112490" cy="549069"/>
            <a:chOff x="0" y="0"/>
            <a:chExt cx="10816654" cy="7320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816717" cy="732155"/>
            </a:xfrm>
            <a:custGeom>
              <a:avLst/>
              <a:gdLst/>
              <a:ahLst/>
              <a:cxnLst/>
              <a:rect r="r" b="b" t="t" l="l"/>
              <a:pathLst>
                <a:path h="732155" w="10816717">
                  <a:moveTo>
                    <a:pt x="0" y="0"/>
                  </a:moveTo>
                  <a:lnTo>
                    <a:pt x="10816717" y="0"/>
                  </a:lnTo>
                  <a:lnTo>
                    <a:pt x="1081671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9590332" y="6314571"/>
            <a:ext cx="3111532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dynamic_form_audit_log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590332" y="6598635"/>
            <a:ext cx="570220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id, entity_type, entity_id, action, old_value (JSON), new_value (JSON), created_by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0" y="0"/>
            <a:ext cx="82363" cy="10295039"/>
            <a:chOff x="0" y="0"/>
            <a:chExt cx="109817" cy="1372671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85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125588"/>
            <a:chOff x="0" y="0"/>
            <a:chExt cx="24396967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301" y="287693"/>
            <a:ext cx="1195368" cy="550212"/>
            <a:chOff x="0" y="0"/>
            <a:chExt cx="1593825" cy="733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3850" cy="733679"/>
            </a:xfrm>
            <a:custGeom>
              <a:avLst/>
              <a:gdLst/>
              <a:ahLst/>
              <a:cxnLst/>
              <a:rect r="r" b="b" t="t" l="l"/>
              <a:pathLst>
                <a:path h="733679" w="1593850">
                  <a:moveTo>
                    <a:pt x="0" y="0"/>
                  </a:moveTo>
                  <a:lnTo>
                    <a:pt x="1593850" y="0"/>
                  </a:lnTo>
                  <a:lnTo>
                    <a:pt x="1593850" y="733679"/>
                  </a:lnTo>
                  <a:lnTo>
                    <a:pt x="0" y="7336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56" t="0" r="-9054" b="8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22372" y="1262863"/>
            <a:ext cx="8551745" cy="3843480"/>
            <a:chOff x="0" y="0"/>
            <a:chExt cx="11402327" cy="5124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02314" cy="5124704"/>
            </a:xfrm>
            <a:custGeom>
              <a:avLst/>
              <a:gdLst/>
              <a:ahLst/>
              <a:cxnLst/>
              <a:rect r="r" b="b" t="t" l="l"/>
              <a:pathLst>
                <a:path h="5124704" w="11402314">
                  <a:moveTo>
                    <a:pt x="0" y="0"/>
                  </a:moveTo>
                  <a:lnTo>
                    <a:pt x="11402314" y="0"/>
                  </a:lnTo>
                  <a:lnTo>
                    <a:pt x="11402314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3"/>
              <a:stretch>
                <a:fillRect l="0" t="-33536" r="0" b="-1174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22372" y="5312245"/>
            <a:ext cx="8551745" cy="2676716"/>
            <a:chOff x="0" y="0"/>
            <a:chExt cx="11402327" cy="35689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2314" cy="3568954"/>
            </a:xfrm>
            <a:custGeom>
              <a:avLst/>
              <a:gdLst/>
              <a:ahLst/>
              <a:cxnLst/>
              <a:rect r="r" b="b" t="t" l="l"/>
              <a:pathLst>
                <a:path h="3568954" w="11402314">
                  <a:moveTo>
                    <a:pt x="0" y="0"/>
                  </a:moveTo>
                  <a:lnTo>
                    <a:pt x="11402314" y="0"/>
                  </a:lnTo>
                  <a:lnTo>
                    <a:pt x="11402314" y="3568954"/>
                  </a:lnTo>
                  <a:lnTo>
                    <a:pt x="0" y="3568954"/>
                  </a:lnTo>
                  <a:close/>
                </a:path>
              </a:pathLst>
            </a:custGeom>
            <a:blipFill>
              <a:blip r:embed="rId4"/>
              <a:stretch>
                <a:fillRect l="0" t="-27164" r="0" b="-2716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82363" cy="10295039"/>
            <a:chOff x="0" y="0"/>
            <a:chExt cx="109817" cy="137267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85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69950" y="346586"/>
            <a:ext cx="88780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7714" y="281035"/>
            <a:ext cx="87185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 Builder Architecture — dynamic_form.builder.inc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048" y="1240784"/>
            <a:ext cx="28991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2744" y="1270483"/>
            <a:ext cx="129733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Page Callback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2744" y="1613649"/>
            <a:ext cx="66804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Loads form via entity_get_controller()-&gt;loadSingle(). Injects JS settings (formId, wsUrl, HMAC token). Renders Sections Form + Question Modal.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5048" y="3025254"/>
            <a:ext cx="28991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32744" y="3054953"/>
            <a:ext cx="315262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Sections Form — AJAX Add-More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2744" y="3398120"/>
            <a:ext cx="66804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First load pulls sections from DB into $form_state['sections']. #limit_validation_errors on submit. Insert via entity controller → set $form_state['rebuild'] = TRUE.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5048" y="4809734"/>
            <a:ext cx="28991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2744" y="4839424"/>
            <a:ext cx="257294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Question Modal — 3 Zones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2744" y="5182591"/>
            <a:ext cx="66804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Type picker (fixed) → scrollable body → action footer. data-dfb-show-for drives JS visibility. _dfb_persist_option_values() preserves typed content on rebuild.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5048" y="6594205"/>
            <a:ext cx="28991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32744" y="6623904"/>
            <a:ext cx="190127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Edit Form + Reorder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2744" y="6967071"/>
            <a:ext cx="668048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Edit pre-populates from DB; type picker locked if form has responses. dynamic_form_ajax_reorder() batch-updates positions and invalidates the questions cache.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125588"/>
            <a:chOff x="0" y="0"/>
            <a:chExt cx="24396967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301" y="287693"/>
            <a:ext cx="1195368" cy="550212"/>
            <a:chOff x="0" y="0"/>
            <a:chExt cx="1593825" cy="733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3850" cy="733679"/>
            </a:xfrm>
            <a:custGeom>
              <a:avLst/>
              <a:gdLst/>
              <a:ahLst/>
              <a:cxnLst/>
              <a:rect r="r" b="b" t="t" l="l"/>
              <a:pathLst>
                <a:path h="733679" w="1593850">
                  <a:moveTo>
                    <a:pt x="0" y="0"/>
                  </a:moveTo>
                  <a:lnTo>
                    <a:pt x="1593850" y="0"/>
                  </a:lnTo>
                  <a:lnTo>
                    <a:pt x="1593850" y="733679"/>
                  </a:lnTo>
                  <a:lnTo>
                    <a:pt x="0" y="7336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56" t="0" r="-9054" b="8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09301" y="2360990"/>
          <a:ext cx="9875615" cy="2671762"/>
        </p:xfrm>
        <a:graphic>
          <a:graphicData uri="http://schemas.openxmlformats.org/drawingml/2006/table">
            <a:tbl>
              <a:tblPr/>
              <a:tblGrid>
                <a:gridCol w="2880388"/>
                <a:gridCol w="6995228"/>
              </a:tblGrid>
              <a:tr h="4961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What it does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7251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create()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Cast array to object → drupal_write_record() → loadSingle() to return hydrated entity. Question create also invalidates questions cache.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51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update()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loadSingle → merge fields → drupal_write_record($tbl, $entity, ['id']) → resetCache() → re-load fresh.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7251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softDelete()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db_update() sets deleted_at + deleted_by → resetCache(). Row survives in DB for audit trail.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839553" y="5422059"/>
            <a:ext cx="75495" cy="754971"/>
            <a:chOff x="0" y="0"/>
            <a:chExt cx="100660" cy="10066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711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5048" y="5422059"/>
            <a:ext cx="9807740" cy="754971"/>
            <a:chOff x="0" y="0"/>
            <a:chExt cx="13076987" cy="100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6937" cy="1006602"/>
            </a:xfrm>
            <a:custGeom>
              <a:avLst/>
              <a:gdLst/>
              <a:ahLst/>
              <a:cxnLst/>
              <a:rect r="r" b="b" t="t" l="l"/>
              <a:pathLst>
                <a:path h="1006602" w="13076937">
                  <a:moveTo>
                    <a:pt x="0" y="0"/>
                  </a:moveTo>
                  <a:lnTo>
                    <a:pt x="13076937" y="0"/>
                  </a:lnTo>
                  <a:lnTo>
                    <a:pt x="13076937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EF0F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118647" y="1784471"/>
            <a:ext cx="75495" cy="576520"/>
            <a:chOff x="0" y="0"/>
            <a:chExt cx="100660" cy="7686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711" cy="768731"/>
            </a:xfrm>
            <a:custGeom>
              <a:avLst/>
              <a:gdLst/>
              <a:ahLst/>
              <a:cxnLst/>
              <a:rect r="r" b="b" t="t" l="l"/>
              <a:pathLst>
                <a:path h="768731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194142" y="1784471"/>
            <a:ext cx="6279975" cy="576520"/>
            <a:chOff x="0" y="0"/>
            <a:chExt cx="8373301" cy="7686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3364" cy="768731"/>
            </a:xfrm>
            <a:custGeom>
              <a:avLst/>
              <a:gdLst/>
              <a:ahLst/>
              <a:cxnLst/>
              <a:rect r="r" b="b" t="t" l="l"/>
              <a:pathLst>
                <a:path h="768731" w="8373364">
                  <a:moveTo>
                    <a:pt x="0" y="0"/>
                  </a:moveTo>
                  <a:lnTo>
                    <a:pt x="8373364" y="0"/>
                  </a:lnTo>
                  <a:lnTo>
                    <a:pt x="8373364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118647" y="2470814"/>
            <a:ext cx="75495" cy="576520"/>
            <a:chOff x="0" y="0"/>
            <a:chExt cx="100660" cy="7686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711" cy="768731"/>
            </a:xfrm>
            <a:custGeom>
              <a:avLst/>
              <a:gdLst/>
              <a:ahLst/>
              <a:cxnLst/>
              <a:rect r="r" b="b" t="t" l="l"/>
              <a:pathLst>
                <a:path h="768731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194142" y="2470814"/>
            <a:ext cx="6279975" cy="576520"/>
            <a:chOff x="0" y="0"/>
            <a:chExt cx="8373301" cy="7686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73364" cy="768731"/>
            </a:xfrm>
            <a:custGeom>
              <a:avLst/>
              <a:gdLst/>
              <a:ahLst/>
              <a:cxnLst/>
              <a:rect r="r" b="b" t="t" l="l"/>
              <a:pathLst>
                <a:path h="768731" w="8373364">
                  <a:moveTo>
                    <a:pt x="0" y="0"/>
                  </a:moveTo>
                  <a:lnTo>
                    <a:pt x="8373364" y="0"/>
                  </a:lnTo>
                  <a:lnTo>
                    <a:pt x="8373364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118647" y="3157147"/>
            <a:ext cx="75495" cy="576520"/>
            <a:chOff x="0" y="0"/>
            <a:chExt cx="100660" cy="7686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711" cy="768731"/>
            </a:xfrm>
            <a:custGeom>
              <a:avLst/>
              <a:gdLst/>
              <a:ahLst/>
              <a:cxnLst/>
              <a:rect r="r" b="b" t="t" l="l"/>
              <a:pathLst>
                <a:path h="768731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194142" y="3157147"/>
            <a:ext cx="6279975" cy="576520"/>
            <a:chOff x="0" y="0"/>
            <a:chExt cx="8373301" cy="7686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73364" cy="768731"/>
            </a:xfrm>
            <a:custGeom>
              <a:avLst/>
              <a:gdLst/>
              <a:ahLst/>
              <a:cxnLst/>
              <a:rect r="r" b="b" t="t" l="l"/>
              <a:pathLst>
                <a:path h="768731" w="8373364">
                  <a:moveTo>
                    <a:pt x="0" y="0"/>
                  </a:moveTo>
                  <a:lnTo>
                    <a:pt x="8373364" y="0"/>
                  </a:lnTo>
                  <a:lnTo>
                    <a:pt x="8373364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118647" y="3843480"/>
            <a:ext cx="75495" cy="576520"/>
            <a:chOff x="0" y="0"/>
            <a:chExt cx="100660" cy="7686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711" cy="768731"/>
            </a:xfrm>
            <a:custGeom>
              <a:avLst/>
              <a:gdLst/>
              <a:ahLst/>
              <a:cxnLst/>
              <a:rect r="r" b="b" t="t" l="l"/>
              <a:pathLst>
                <a:path h="768731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194142" y="3843480"/>
            <a:ext cx="6279975" cy="576520"/>
            <a:chOff x="0" y="0"/>
            <a:chExt cx="8373301" cy="7686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373364" cy="768731"/>
            </a:xfrm>
            <a:custGeom>
              <a:avLst/>
              <a:gdLst/>
              <a:ahLst/>
              <a:cxnLst/>
              <a:rect r="r" b="b" t="t" l="l"/>
              <a:pathLst>
                <a:path h="768731" w="8373364">
                  <a:moveTo>
                    <a:pt x="0" y="0"/>
                  </a:moveTo>
                  <a:lnTo>
                    <a:pt x="8373364" y="0"/>
                  </a:lnTo>
                  <a:lnTo>
                    <a:pt x="8373364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118647" y="4694539"/>
            <a:ext cx="6355471" cy="2127647"/>
            <a:chOff x="0" y="0"/>
            <a:chExt cx="8473961" cy="28368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73948" cy="2836799"/>
            </a:xfrm>
            <a:custGeom>
              <a:avLst/>
              <a:gdLst/>
              <a:ahLst/>
              <a:cxnLst/>
              <a:rect r="r" b="b" t="t" l="l"/>
              <a:pathLst>
                <a:path h="2836799" w="8473948">
                  <a:moveTo>
                    <a:pt x="0" y="0"/>
                  </a:moveTo>
                  <a:lnTo>
                    <a:pt x="8473948" y="0"/>
                  </a:lnTo>
                  <a:lnTo>
                    <a:pt x="8473948" y="2836799"/>
                  </a:lnTo>
                  <a:lnTo>
                    <a:pt x="0" y="2836799"/>
                  </a:lnTo>
                  <a:close/>
                </a:path>
              </a:pathLst>
            </a:custGeom>
            <a:blipFill>
              <a:blip r:embed="rId3"/>
              <a:stretch>
                <a:fillRect l="0" t="-10454" r="0" b="-10454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0" y="0"/>
            <a:ext cx="82363" cy="10295039"/>
            <a:chOff x="0" y="0"/>
            <a:chExt cx="109817" cy="137267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85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92082" y="6510404"/>
            <a:ext cx="1795632" cy="705207"/>
            <a:chOff x="0" y="0"/>
            <a:chExt cx="1034795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34795" cy="406400"/>
            </a:xfrm>
            <a:custGeom>
              <a:avLst/>
              <a:gdLst/>
              <a:ahLst/>
              <a:cxnLst/>
              <a:rect r="r" b="b" t="t" l="l"/>
              <a:pathLst>
                <a:path h="406400" w="1034795">
                  <a:moveTo>
                    <a:pt x="831595" y="0"/>
                  </a:moveTo>
                  <a:cubicBezTo>
                    <a:pt x="943819" y="0"/>
                    <a:pt x="1034795" y="90976"/>
                    <a:pt x="1034795" y="203200"/>
                  </a:cubicBezTo>
                  <a:cubicBezTo>
                    <a:pt x="1034795" y="315424"/>
                    <a:pt x="943819" y="406400"/>
                    <a:pt x="83159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6FFF8"/>
            </a:solidFill>
            <a:ln w="38100" cap="sq">
              <a:solidFill>
                <a:srgbClr val="E91E8C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3479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entity_get_controller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5048" y="1289533"/>
            <a:ext cx="970036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All 4 entity types extend DrupalDefaultEntityController. buildQuery() is overridden to always append -&gt;isNull('base.deleted_at') — soft-deleted rows are invisible to entity_load() and the REST API without any caller changes.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9950" y="346586"/>
            <a:ext cx="88780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ENTITY LAYER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87714" y="281035"/>
            <a:ext cx="789845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Entity Controller — DrupalDefaultEntityController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51927" y="5620250"/>
            <a:ext cx="941896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Registered in hook_entity_info() via the 'controller class' key. Called via entity_get_controller('type').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10087" y="1280008"/>
            <a:ext cx="393513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REGISTERED ENTITY TYPES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22847" y="1847002"/>
            <a:ext cx="5959831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dynamic_form_form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22847" y="2094081"/>
            <a:ext cx="215369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DynamicFormFormController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22847" y="2533336"/>
            <a:ext cx="5959831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dynamic_form_section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422847" y="2780414"/>
            <a:ext cx="230996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DynamicFormSectionController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422847" y="3219669"/>
            <a:ext cx="5959831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dynamic_form_question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422847" y="3466757"/>
            <a:ext cx="24379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DynamicFormQuestionController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22847" y="3906012"/>
            <a:ext cx="5959831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dynamic_form_question_option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422847" y="4153090"/>
            <a:ext cx="294575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777777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DynamicFormQuestionOptionController</a:t>
            </a:r>
          </a:p>
        </p:txBody>
      </p:sp>
      <p:sp>
        <p:nvSpPr>
          <p:cNvPr name="AutoShape 47" id="47"/>
          <p:cNvSpPr/>
          <p:nvPr/>
        </p:nvSpPr>
        <p:spPr>
          <a:xfrm>
            <a:off x="2410687" y="6819856"/>
            <a:ext cx="421876" cy="4660"/>
          </a:xfrm>
          <a:prstGeom prst="line">
            <a:avLst/>
          </a:prstGeom>
          <a:ln cap="flat" w="38100">
            <a:solidFill>
              <a:srgbClr val="E91E8C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8" id="48"/>
          <p:cNvGrpSpPr/>
          <p:nvPr/>
        </p:nvGrpSpPr>
        <p:grpSpPr>
          <a:xfrm rot="0">
            <a:off x="3071061" y="6510404"/>
            <a:ext cx="1410414" cy="705207"/>
            <a:chOff x="0" y="0"/>
            <a:chExt cx="812800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6FFF8"/>
            </a:solidFill>
            <a:ln w="38100" cap="sq">
              <a:solidFill>
                <a:srgbClr val="E91E8C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buildQuery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>
            <a:off x="4604448" y="6819856"/>
            <a:ext cx="421876" cy="4660"/>
          </a:xfrm>
          <a:prstGeom prst="line">
            <a:avLst/>
          </a:prstGeom>
          <a:ln cap="flat" w="38100">
            <a:solidFill>
              <a:srgbClr val="E91E8C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2" id="52"/>
          <p:cNvGrpSpPr/>
          <p:nvPr/>
        </p:nvGrpSpPr>
        <p:grpSpPr>
          <a:xfrm rot="0">
            <a:off x="5264659" y="6467252"/>
            <a:ext cx="1410414" cy="705207"/>
            <a:chOff x="0" y="0"/>
            <a:chExt cx="812800" cy="406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6FFF8"/>
            </a:solidFill>
            <a:ln w="38100" cap="sq">
              <a:solidFill>
                <a:srgbClr val="E91E8C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 executes query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>
            <a:off x="6855727" y="6843565"/>
            <a:ext cx="421876" cy="4660"/>
          </a:xfrm>
          <a:prstGeom prst="line">
            <a:avLst/>
          </a:prstGeom>
          <a:ln cap="flat" w="38100">
            <a:solidFill>
              <a:srgbClr val="E91E8C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6" id="56"/>
          <p:cNvGrpSpPr/>
          <p:nvPr/>
        </p:nvGrpSpPr>
        <p:grpSpPr>
          <a:xfrm rot="0">
            <a:off x="7458257" y="6510404"/>
            <a:ext cx="1800043" cy="705207"/>
            <a:chOff x="0" y="0"/>
            <a:chExt cx="1037337" cy="406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37337" cy="406400"/>
            </a:xfrm>
            <a:custGeom>
              <a:avLst/>
              <a:gdLst/>
              <a:ahLst/>
              <a:cxnLst/>
              <a:rect r="r" b="b" t="t" l="l"/>
              <a:pathLst>
                <a:path h="406400" w="1037337">
                  <a:moveTo>
                    <a:pt x="834137" y="0"/>
                  </a:moveTo>
                  <a:cubicBezTo>
                    <a:pt x="946361" y="0"/>
                    <a:pt x="1037337" y="90976"/>
                    <a:pt x="1037337" y="203200"/>
                  </a:cubicBezTo>
                  <a:cubicBezTo>
                    <a:pt x="1037337" y="315424"/>
                    <a:pt x="946361" y="406400"/>
                    <a:pt x="83413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6FFF8"/>
            </a:solidFill>
            <a:ln w="38100" cap="sq">
              <a:solidFill>
                <a:srgbClr val="E91E8C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3733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Returns only non-deleted entities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125588"/>
            <a:chOff x="0" y="0"/>
            <a:chExt cx="24396967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301" y="287693"/>
            <a:ext cx="1195368" cy="550212"/>
            <a:chOff x="0" y="0"/>
            <a:chExt cx="1593825" cy="733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3850" cy="733679"/>
            </a:xfrm>
            <a:custGeom>
              <a:avLst/>
              <a:gdLst/>
              <a:ahLst/>
              <a:cxnLst/>
              <a:rect r="r" b="b" t="t" l="l"/>
              <a:pathLst>
                <a:path h="733679" w="1593850">
                  <a:moveTo>
                    <a:pt x="0" y="0"/>
                  </a:moveTo>
                  <a:lnTo>
                    <a:pt x="1593850" y="0"/>
                  </a:lnTo>
                  <a:lnTo>
                    <a:pt x="1593850" y="733679"/>
                  </a:lnTo>
                  <a:lnTo>
                    <a:pt x="0" y="7336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56" t="0" r="-9054" b="8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69950" y="346586"/>
            <a:ext cx="88780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7715" y="281035"/>
            <a:ext cx="59983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 Module — Submission Flow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48" y="1280008"/>
            <a:ext cx="393513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AJAX LIFECYCLE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60872" y="1757020"/>
            <a:ext cx="164725" cy="164725"/>
            <a:chOff x="0" y="0"/>
            <a:chExt cx="219634" cy="2196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9500" y="1921745"/>
            <a:ext cx="27451" cy="411804"/>
            <a:chOff x="0" y="0"/>
            <a:chExt cx="36601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76" cy="549021"/>
            </a:xfrm>
            <a:custGeom>
              <a:avLst/>
              <a:gdLst/>
              <a:ahLst/>
              <a:cxnLst/>
              <a:rect r="r" b="b" t="t" l="l"/>
              <a:pathLst>
                <a:path h="549021" w="36576">
                  <a:moveTo>
                    <a:pt x="0" y="0"/>
                  </a:moveTo>
                  <a:lnTo>
                    <a:pt x="36576" y="0"/>
                  </a:lnTo>
                  <a:lnTo>
                    <a:pt x="36576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54303" y="1691802"/>
            <a:ext cx="113005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Render Form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4303" y="1984267"/>
            <a:ext cx="811713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Sections + questions → steps via array_chunk() by question_per_page. Validation rules in data-validations JSON. Select2 / TinyMCE loaded only when needed.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0872" y="3102235"/>
            <a:ext cx="164725" cy="164725"/>
            <a:chOff x="0" y="0"/>
            <a:chExt cx="219634" cy="2196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9500" y="3266961"/>
            <a:ext cx="27451" cy="411804"/>
            <a:chOff x="0" y="0"/>
            <a:chExt cx="36601" cy="549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" cy="549021"/>
            </a:xfrm>
            <a:custGeom>
              <a:avLst/>
              <a:gdLst/>
              <a:ahLst/>
              <a:cxnLst/>
              <a:rect r="r" b="b" t="t" l="l"/>
              <a:pathLst>
                <a:path h="549021" w="36576">
                  <a:moveTo>
                    <a:pt x="0" y="0"/>
                  </a:moveTo>
                  <a:lnTo>
                    <a:pt x="36576" y="0"/>
                  </a:lnTo>
                  <a:lnTo>
                    <a:pt x="36576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54303" y="3037027"/>
            <a:ext cx="10906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Guest Token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4303" y="3329483"/>
            <a:ext cx="646539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Anonymous visitors get a 64-char cryptographic cookie dfr_guest tied to their draft.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0872" y="4447461"/>
            <a:ext cx="164725" cy="164725"/>
            <a:chOff x="0" y="0"/>
            <a:chExt cx="219634" cy="2196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29500" y="4612176"/>
            <a:ext cx="27451" cy="411804"/>
            <a:chOff x="0" y="0"/>
            <a:chExt cx="36601" cy="549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" cy="549021"/>
            </a:xfrm>
            <a:custGeom>
              <a:avLst/>
              <a:gdLst/>
              <a:ahLst/>
              <a:cxnLst/>
              <a:rect r="r" b="b" t="t" l="l"/>
              <a:pathLst>
                <a:path h="549021" w="36576">
                  <a:moveTo>
                    <a:pt x="0" y="0"/>
                  </a:moveTo>
                  <a:lnTo>
                    <a:pt x="36576" y="0"/>
                  </a:lnTo>
                  <a:lnTo>
                    <a:pt x="36576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54303" y="4382243"/>
            <a:ext cx="143782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AJAX Save Draft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4303" y="4674708"/>
            <a:ext cx="804387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CSRF via drupal_valid_token(). First save: createDraft() + session row. Returns response_id. Tags &amp; files routed to dedicated handlers.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60872" y="5792676"/>
            <a:ext cx="164725" cy="164725"/>
            <a:chOff x="0" y="0"/>
            <a:chExt cx="219634" cy="2196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9500" y="5957402"/>
            <a:ext cx="27451" cy="411804"/>
            <a:chOff x="0" y="0"/>
            <a:chExt cx="36601" cy="549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" cy="549021"/>
            </a:xfrm>
            <a:custGeom>
              <a:avLst/>
              <a:gdLst/>
              <a:ahLst/>
              <a:cxnLst/>
              <a:rect r="r" b="b" t="t" l="l"/>
              <a:pathLst>
                <a:path h="549021" w="36576">
                  <a:moveTo>
                    <a:pt x="0" y="0"/>
                  </a:moveTo>
                  <a:lnTo>
                    <a:pt x="36576" y="0"/>
                  </a:lnTo>
                  <a:lnTo>
                    <a:pt x="36576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54303" y="5727459"/>
            <a:ext cx="115267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AJAX Submit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4303" y="6019924"/>
            <a:ext cx="77945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Validates required fields + custom rules server-side. On success: submit() sets status=1, fires Solr indexing.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60872" y="7137892"/>
            <a:ext cx="164725" cy="164725"/>
            <a:chOff x="0" y="0"/>
            <a:chExt cx="219634" cy="2196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54303" y="7072684"/>
            <a:ext cx="98181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File Upload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4303" y="7365140"/>
            <a:ext cx="795364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Ext denylist (php, sh, exe…) + configurable allowlist + file_munge_filename() + Drupal managed file registration.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62881" y="1280008"/>
            <a:ext cx="393513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QUESTION TYPE → FAPI ELEMENT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471441" y="1784471"/>
            <a:ext cx="8002676" cy="576520"/>
            <a:chOff x="0" y="0"/>
            <a:chExt cx="10670235" cy="7686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70286" cy="768731"/>
            </a:xfrm>
            <a:custGeom>
              <a:avLst/>
              <a:gdLst/>
              <a:ahLst/>
              <a:cxnLst/>
              <a:rect r="r" b="b" t="t" l="l"/>
              <a:pathLst>
                <a:path h="768731" w="10670286">
                  <a:moveTo>
                    <a:pt x="0" y="0"/>
                  </a:moveTo>
                  <a:lnTo>
                    <a:pt x="10670286" y="0"/>
                  </a:lnTo>
                  <a:lnTo>
                    <a:pt x="10670286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700146" y="1915630"/>
            <a:ext cx="1464326" cy="27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text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84616" y="1915630"/>
            <a:ext cx="86141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→ textfield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471441" y="2402176"/>
            <a:ext cx="8002676" cy="576520"/>
            <a:chOff x="0" y="0"/>
            <a:chExt cx="10670235" cy="7686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70286" cy="768731"/>
            </a:xfrm>
            <a:custGeom>
              <a:avLst/>
              <a:gdLst/>
              <a:ahLst/>
              <a:cxnLst/>
              <a:rect r="r" b="b" t="t" l="l"/>
              <a:pathLst>
                <a:path h="768731" w="10670286">
                  <a:moveTo>
                    <a:pt x="0" y="0"/>
                  </a:moveTo>
                  <a:lnTo>
                    <a:pt x="10670286" y="0"/>
                  </a:lnTo>
                  <a:lnTo>
                    <a:pt x="10670286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700146" y="2533336"/>
            <a:ext cx="1464326" cy="27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textarea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84616" y="2533336"/>
            <a:ext cx="159261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→ textarea (rows=4)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471441" y="3019882"/>
            <a:ext cx="8002676" cy="576520"/>
            <a:chOff x="0" y="0"/>
            <a:chExt cx="10670235" cy="76869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670286" cy="768731"/>
            </a:xfrm>
            <a:custGeom>
              <a:avLst/>
              <a:gdLst/>
              <a:ahLst/>
              <a:cxnLst/>
              <a:rect r="r" b="b" t="t" l="l"/>
              <a:pathLst>
                <a:path h="768731" w="10670286">
                  <a:moveTo>
                    <a:pt x="0" y="0"/>
                  </a:moveTo>
                  <a:lnTo>
                    <a:pt x="10670286" y="0"/>
                  </a:lnTo>
                  <a:lnTo>
                    <a:pt x="10670286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700146" y="3151041"/>
            <a:ext cx="1464326" cy="27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text_editor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84616" y="3151041"/>
            <a:ext cx="158844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→ TinyMCE textarea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471441" y="3637578"/>
            <a:ext cx="8002676" cy="576520"/>
            <a:chOff x="0" y="0"/>
            <a:chExt cx="10670235" cy="76869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70286" cy="768731"/>
            </a:xfrm>
            <a:custGeom>
              <a:avLst/>
              <a:gdLst/>
              <a:ahLst/>
              <a:cxnLst/>
              <a:rect r="r" b="b" t="t" l="l"/>
              <a:pathLst>
                <a:path h="768731" w="10670286">
                  <a:moveTo>
                    <a:pt x="0" y="0"/>
                  </a:moveTo>
                  <a:lnTo>
                    <a:pt x="10670286" y="0"/>
                  </a:lnTo>
                  <a:lnTo>
                    <a:pt x="10670286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9700146" y="3768738"/>
            <a:ext cx="1464326" cy="27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radio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484616" y="3768738"/>
            <a:ext cx="207124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→ expanded radio buttons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471441" y="4255284"/>
            <a:ext cx="8002676" cy="576520"/>
            <a:chOff x="0" y="0"/>
            <a:chExt cx="10670235" cy="76869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670286" cy="768731"/>
            </a:xfrm>
            <a:custGeom>
              <a:avLst/>
              <a:gdLst/>
              <a:ahLst/>
              <a:cxnLst/>
              <a:rect r="r" b="b" t="t" l="l"/>
              <a:pathLst>
                <a:path h="768731" w="10670286">
                  <a:moveTo>
                    <a:pt x="0" y="0"/>
                  </a:moveTo>
                  <a:lnTo>
                    <a:pt x="10670286" y="0"/>
                  </a:lnTo>
                  <a:lnTo>
                    <a:pt x="10670286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9700146" y="4386443"/>
            <a:ext cx="1464326" cy="27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checkbox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484616" y="4386443"/>
            <a:ext cx="191824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→ expanded checkboxes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471441" y="4872990"/>
            <a:ext cx="8002676" cy="576520"/>
            <a:chOff x="0" y="0"/>
            <a:chExt cx="10670235" cy="76869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70286" cy="768731"/>
            </a:xfrm>
            <a:custGeom>
              <a:avLst/>
              <a:gdLst/>
              <a:ahLst/>
              <a:cxnLst/>
              <a:rect r="r" b="b" t="t" l="l"/>
              <a:pathLst>
                <a:path h="768731" w="10670286">
                  <a:moveTo>
                    <a:pt x="0" y="0"/>
                  </a:moveTo>
                  <a:lnTo>
                    <a:pt x="10670286" y="0"/>
                  </a:lnTo>
                  <a:lnTo>
                    <a:pt x="10670286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9700146" y="5004149"/>
            <a:ext cx="1464326" cy="27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select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484616" y="5004149"/>
            <a:ext cx="134927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→ Select2 widget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471441" y="5490686"/>
            <a:ext cx="8002676" cy="576520"/>
            <a:chOff x="0" y="0"/>
            <a:chExt cx="10670235" cy="76869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670286" cy="768731"/>
            </a:xfrm>
            <a:custGeom>
              <a:avLst/>
              <a:gdLst/>
              <a:ahLst/>
              <a:cxnLst/>
              <a:rect r="r" b="b" t="t" l="l"/>
              <a:pathLst>
                <a:path h="768731" w="10670286">
                  <a:moveTo>
                    <a:pt x="0" y="0"/>
                  </a:moveTo>
                  <a:lnTo>
                    <a:pt x="10670286" y="0"/>
                  </a:lnTo>
                  <a:lnTo>
                    <a:pt x="10670286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9700146" y="5621846"/>
            <a:ext cx="1464326" cy="27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rating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484616" y="5621846"/>
            <a:ext cx="201215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→ star widget via theme()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471441" y="6108392"/>
            <a:ext cx="8002676" cy="576520"/>
            <a:chOff x="0" y="0"/>
            <a:chExt cx="10670235" cy="76869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670286" cy="768731"/>
            </a:xfrm>
            <a:custGeom>
              <a:avLst/>
              <a:gdLst/>
              <a:ahLst/>
              <a:cxnLst/>
              <a:rect r="r" b="b" t="t" l="l"/>
              <a:pathLst>
                <a:path h="768731" w="10670286">
                  <a:moveTo>
                    <a:pt x="0" y="0"/>
                  </a:moveTo>
                  <a:lnTo>
                    <a:pt x="10670286" y="0"/>
                  </a:lnTo>
                  <a:lnTo>
                    <a:pt x="10670286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9700146" y="6239551"/>
            <a:ext cx="1464326" cy="27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linear_scale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484616" y="6239551"/>
            <a:ext cx="224462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→ button widget via theme()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471441" y="6726098"/>
            <a:ext cx="8002676" cy="576520"/>
            <a:chOff x="0" y="0"/>
            <a:chExt cx="10670235" cy="76869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670286" cy="768731"/>
            </a:xfrm>
            <a:custGeom>
              <a:avLst/>
              <a:gdLst/>
              <a:ahLst/>
              <a:cxnLst/>
              <a:rect r="r" b="b" t="t" l="l"/>
              <a:pathLst>
                <a:path h="768731" w="10670286">
                  <a:moveTo>
                    <a:pt x="0" y="0"/>
                  </a:moveTo>
                  <a:lnTo>
                    <a:pt x="10670286" y="0"/>
                  </a:lnTo>
                  <a:lnTo>
                    <a:pt x="10670286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9700146" y="6857257"/>
            <a:ext cx="1464326" cy="27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tags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484616" y="6857257"/>
            <a:ext cx="204534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→ Select2 + autocomplete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471441" y="7343794"/>
            <a:ext cx="8002676" cy="576520"/>
            <a:chOff x="0" y="0"/>
            <a:chExt cx="10670235" cy="76869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670286" cy="768731"/>
            </a:xfrm>
            <a:custGeom>
              <a:avLst/>
              <a:gdLst/>
              <a:ahLst/>
              <a:cxnLst/>
              <a:rect r="r" b="b" t="t" l="l"/>
              <a:pathLst>
                <a:path h="768731" w="10670286">
                  <a:moveTo>
                    <a:pt x="0" y="0"/>
                  </a:moveTo>
                  <a:lnTo>
                    <a:pt x="10670286" y="0"/>
                  </a:lnTo>
                  <a:lnTo>
                    <a:pt x="10670286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9700146" y="7474953"/>
            <a:ext cx="1464326" cy="27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file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484616" y="7474953"/>
            <a:ext cx="213806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→ dropzone + managed file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471441" y="7961500"/>
            <a:ext cx="8002676" cy="576520"/>
            <a:chOff x="0" y="0"/>
            <a:chExt cx="10670235" cy="76869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670286" cy="768731"/>
            </a:xfrm>
            <a:custGeom>
              <a:avLst/>
              <a:gdLst/>
              <a:ahLst/>
              <a:cxnLst/>
              <a:rect r="r" b="b" t="t" l="l"/>
              <a:pathLst>
                <a:path h="768731" w="10670286">
                  <a:moveTo>
                    <a:pt x="0" y="0"/>
                  </a:moveTo>
                  <a:lnTo>
                    <a:pt x="10670286" y="0"/>
                  </a:lnTo>
                  <a:lnTo>
                    <a:pt x="10670286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9700146" y="8092659"/>
            <a:ext cx="115282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date / time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1484616" y="8092659"/>
            <a:ext cx="181570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→ HTML5 native inputs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0" y="0"/>
            <a:ext cx="82363" cy="10295039"/>
            <a:chOff x="0" y="0"/>
            <a:chExt cx="109817" cy="1372671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985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125588"/>
            <a:chOff x="0" y="0"/>
            <a:chExt cx="24396967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301" y="287693"/>
            <a:ext cx="1195368" cy="550212"/>
            <a:chOff x="0" y="0"/>
            <a:chExt cx="1593825" cy="733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3850" cy="733679"/>
            </a:xfrm>
            <a:custGeom>
              <a:avLst/>
              <a:gdLst/>
              <a:ahLst/>
              <a:cxnLst/>
              <a:rect r="r" b="b" t="t" l="l"/>
              <a:pathLst>
                <a:path h="733679" w="1593850">
                  <a:moveTo>
                    <a:pt x="0" y="0"/>
                  </a:moveTo>
                  <a:lnTo>
                    <a:pt x="1593850" y="0"/>
                  </a:lnTo>
                  <a:lnTo>
                    <a:pt x="1593850" y="733679"/>
                  </a:lnTo>
                  <a:lnTo>
                    <a:pt x="0" y="7336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56" t="0" r="-9054" b="8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23608" y="1262863"/>
            <a:ext cx="75495" cy="1098137"/>
            <a:chOff x="0" y="0"/>
            <a:chExt cx="100660" cy="14641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711" cy="1464183"/>
            </a:xfrm>
            <a:custGeom>
              <a:avLst/>
              <a:gdLst/>
              <a:ahLst/>
              <a:cxnLst/>
              <a:rect r="r" b="b" t="t" l="l"/>
              <a:pathLst>
                <a:path h="1464183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464183"/>
                  </a:lnTo>
                  <a:lnTo>
                    <a:pt x="0" y="1464183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9103" y="1262863"/>
            <a:ext cx="10356809" cy="1098137"/>
            <a:chOff x="0" y="0"/>
            <a:chExt cx="13809078" cy="1464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09090" cy="1464183"/>
            </a:xfrm>
            <a:custGeom>
              <a:avLst/>
              <a:gdLst/>
              <a:ahLst/>
              <a:cxnLst/>
              <a:rect r="r" b="b" t="t" l="l"/>
              <a:pathLst>
                <a:path h="1464183" w="13809090">
                  <a:moveTo>
                    <a:pt x="0" y="0"/>
                  </a:moveTo>
                  <a:lnTo>
                    <a:pt x="13809090" y="0"/>
                  </a:lnTo>
                  <a:lnTo>
                    <a:pt x="13809090" y="1464183"/>
                  </a:lnTo>
                  <a:lnTo>
                    <a:pt x="0" y="1464183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823603" y="2882612"/>
          <a:ext cx="10409432" cy="3705513"/>
        </p:xfrm>
        <a:graphic>
          <a:graphicData uri="http://schemas.openxmlformats.org/drawingml/2006/table">
            <a:tbl>
              <a:tblPr/>
              <a:tblGrid>
                <a:gridCol w="3013257"/>
                <a:gridCol w="4793818"/>
                <a:gridCol w="2602358"/>
              </a:tblGrid>
              <a:tr h="495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rule_type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What it checks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Drupal API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95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min_length / max_length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Character count comparison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drupal_strlen()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09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min_value / max_value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Numeric float comparison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is_numeric() + cast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7248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regex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Pattern match — backtrack limit capped at 10 000 (ReDoS guard)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preg_match()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email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 email address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valid_email_address()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95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 URL (http/https/ftp)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valid_url($v, [...])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numeric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Is a number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is_numeric()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1676793" y="3006151"/>
            <a:ext cx="164725" cy="164725"/>
            <a:chOff x="0" y="0"/>
            <a:chExt cx="219634" cy="2196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745430" y="3170877"/>
            <a:ext cx="27451" cy="411804"/>
            <a:chOff x="0" y="0"/>
            <a:chExt cx="36601" cy="549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" cy="549021"/>
            </a:xfrm>
            <a:custGeom>
              <a:avLst/>
              <a:gdLst/>
              <a:ahLst/>
              <a:cxnLst/>
              <a:rect r="r" b="b" t="t" l="l"/>
              <a:pathLst>
                <a:path h="549021" w="36576">
                  <a:moveTo>
                    <a:pt x="0" y="0"/>
                  </a:moveTo>
                  <a:lnTo>
                    <a:pt x="36576" y="0"/>
                  </a:lnTo>
                  <a:lnTo>
                    <a:pt x="36576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67715" y="4021935"/>
            <a:ext cx="164725" cy="164725"/>
            <a:chOff x="0" y="0"/>
            <a:chExt cx="219634" cy="2196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736353" y="4186651"/>
            <a:ext cx="27451" cy="411804"/>
            <a:chOff x="0" y="0"/>
            <a:chExt cx="36601" cy="549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" cy="549021"/>
            </a:xfrm>
            <a:custGeom>
              <a:avLst/>
              <a:gdLst/>
              <a:ahLst/>
              <a:cxnLst/>
              <a:rect r="r" b="b" t="t" l="l"/>
              <a:pathLst>
                <a:path h="549021" w="36576">
                  <a:moveTo>
                    <a:pt x="0" y="0"/>
                  </a:moveTo>
                  <a:lnTo>
                    <a:pt x="36576" y="0"/>
                  </a:lnTo>
                  <a:lnTo>
                    <a:pt x="36576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67715" y="5058687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67715" y="6341745"/>
            <a:ext cx="5806402" cy="1990373"/>
            <a:chOff x="0" y="0"/>
            <a:chExt cx="7741869" cy="26538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41920" cy="2653792"/>
            </a:xfrm>
            <a:custGeom>
              <a:avLst/>
              <a:gdLst/>
              <a:ahLst/>
              <a:cxnLst/>
              <a:rect r="r" b="b" t="t" l="l"/>
              <a:pathLst>
                <a:path h="2653792" w="7741920">
                  <a:moveTo>
                    <a:pt x="0" y="0"/>
                  </a:moveTo>
                  <a:lnTo>
                    <a:pt x="7741920" y="0"/>
                  </a:lnTo>
                  <a:lnTo>
                    <a:pt x="7741920" y="2653792"/>
                  </a:lnTo>
                  <a:lnTo>
                    <a:pt x="0" y="2653792"/>
                  </a:lnTo>
                  <a:close/>
                </a:path>
              </a:pathLst>
            </a:custGeom>
            <a:blipFill>
              <a:blip r:embed="rId3"/>
              <a:stretch>
                <a:fillRect l="-1218" t="0" r="-4549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0" y="0"/>
            <a:ext cx="82363" cy="10295039"/>
            <a:chOff x="0" y="0"/>
            <a:chExt cx="109817" cy="137267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85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15048" y="434211"/>
            <a:ext cx="112076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87714" y="281035"/>
            <a:ext cx="670738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Question Validation in the Response Layer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6445" y="1417272"/>
            <a:ext cx="475714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 — EAV in dynamic_form_question_validations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6445" y="1811141"/>
            <a:ext cx="1003659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A single table stores user rules, scale meta (min/max/labels), and config flags (allow_multiple) discriminated by rule_type. Custom error_message per row; falls back to built-in default when empty.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5048" y="2487959"/>
            <a:ext cx="1024943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77777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Server-Side Rule Engine — _dynamic_form_response_apply_rule()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72881" y="2487959"/>
            <a:ext cx="393513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CLIENT-SIDE FLOW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61146" y="2854037"/>
            <a:ext cx="200545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Rules baked into HTML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61146" y="3183821"/>
            <a:ext cx="62268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data-validations='[{...}]' on wrapper. JS reads on blur; shows inline error without round-trip.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61146" y="3956718"/>
            <a:ext cx="133424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Required check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61146" y="4249183"/>
            <a:ext cx="62268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data-required="1" blocks next-step navigation. Server re-validates against getAnswersMap().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61146" y="4993479"/>
            <a:ext cx="216485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Server returns error map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61146" y="5285934"/>
            <a:ext cx="57925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{ status:'error', errors:{ qid: 'msg' } }. JS highlights each field by question ID.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125588"/>
            <a:chOff x="0" y="0"/>
            <a:chExt cx="24396967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301" y="287693"/>
            <a:ext cx="1195368" cy="550212"/>
            <a:chOff x="0" y="0"/>
            <a:chExt cx="1593825" cy="733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3850" cy="733679"/>
            </a:xfrm>
            <a:custGeom>
              <a:avLst/>
              <a:gdLst/>
              <a:ahLst/>
              <a:cxnLst/>
              <a:rect r="r" b="b" t="t" l="l"/>
              <a:pathLst>
                <a:path h="733679" w="1593850">
                  <a:moveTo>
                    <a:pt x="0" y="0"/>
                  </a:moveTo>
                  <a:lnTo>
                    <a:pt x="1593850" y="0"/>
                  </a:lnTo>
                  <a:lnTo>
                    <a:pt x="1593850" y="733679"/>
                  </a:lnTo>
                  <a:lnTo>
                    <a:pt x="0" y="7336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56" t="0" r="-9054" b="8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69950" y="346586"/>
            <a:ext cx="88780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7714" y="281035"/>
            <a:ext cx="798046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 Export — Drupal Batch API + OpenSpout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1262863"/>
            <a:ext cx="3706216" cy="1372676"/>
            <a:chOff x="0" y="0"/>
            <a:chExt cx="4941621" cy="1830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41570" cy="1830197"/>
            </a:xfrm>
            <a:custGeom>
              <a:avLst/>
              <a:gdLst/>
              <a:ahLst/>
              <a:cxnLst/>
              <a:rect r="r" b="b" t="t" l="l"/>
              <a:pathLst>
                <a:path h="1830197" w="4941570">
                  <a:moveTo>
                    <a:pt x="0" y="0"/>
                  </a:moveTo>
                  <a:lnTo>
                    <a:pt x="4941570" y="0"/>
                  </a:lnTo>
                  <a:lnTo>
                    <a:pt x="4941570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3608" y="1262863"/>
            <a:ext cx="75495" cy="1372676"/>
            <a:chOff x="0" y="0"/>
            <a:chExt cx="100660" cy="1830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71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764" y="1389821"/>
            <a:ext cx="338607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SINGLE FORM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9764" y="1709738"/>
            <a:ext cx="338607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All responses for one form as one worksheet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804353" y="1262863"/>
            <a:ext cx="3706216" cy="1372676"/>
            <a:chOff x="0" y="0"/>
            <a:chExt cx="4941621" cy="1830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41570" cy="1830197"/>
            </a:xfrm>
            <a:custGeom>
              <a:avLst/>
              <a:gdLst/>
              <a:ahLst/>
              <a:cxnLst/>
              <a:rect r="r" b="b" t="t" l="l"/>
              <a:pathLst>
                <a:path h="1830197" w="4941570">
                  <a:moveTo>
                    <a:pt x="0" y="0"/>
                  </a:moveTo>
                  <a:lnTo>
                    <a:pt x="4941570" y="0"/>
                  </a:lnTo>
                  <a:lnTo>
                    <a:pt x="4941570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804353" y="1262863"/>
            <a:ext cx="75495" cy="1372676"/>
            <a:chOff x="0" y="0"/>
            <a:chExt cx="100660" cy="18302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71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060518" y="1389821"/>
            <a:ext cx="338607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BULK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60518" y="1709738"/>
            <a:ext cx="338607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forms — each gets its own worksheet in one .xlsx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3608" y="2772794"/>
            <a:ext cx="75495" cy="1166774"/>
            <a:chOff x="0" y="0"/>
            <a:chExt cx="100660" cy="15556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711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99103" y="2772794"/>
            <a:ext cx="7611466" cy="1166774"/>
            <a:chOff x="0" y="0"/>
            <a:chExt cx="10148621" cy="15556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4857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148570">
                  <a:moveTo>
                    <a:pt x="0" y="0"/>
                  </a:moveTo>
                  <a:lnTo>
                    <a:pt x="10148570" y="0"/>
                  </a:lnTo>
                  <a:lnTo>
                    <a:pt x="10148570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96445" y="2744219"/>
            <a:ext cx="138216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Batch API?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6445" y="3060002"/>
            <a:ext cx="451053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max_execution_time kills a naive loop on large exports.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6445" y="3355276"/>
            <a:ext cx="495344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Batch API breaks work into 200-response HTTP sub-requests.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6445" y="3644646"/>
            <a:ext cx="597738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Drupal handles the progress bar, error recovery, and result accumulation.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5048" y="4172140"/>
            <a:ext cx="75040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Intermediate data written to a temp JSONL file per form. The Finished callback reads all JSONL files and assembles the final .xlsx via OpenSpout, then streams it to the browser.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13812" y="1280008"/>
            <a:ext cx="393513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BATCH PIPELINE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922372" y="1743294"/>
            <a:ext cx="8551745" cy="1509941"/>
            <a:chOff x="0" y="0"/>
            <a:chExt cx="11402327" cy="201325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4023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11402314">
                  <a:moveTo>
                    <a:pt x="0" y="0"/>
                  </a:moveTo>
                  <a:lnTo>
                    <a:pt x="11402314" y="0"/>
                  </a:lnTo>
                  <a:lnTo>
                    <a:pt x="114023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219714" y="1870253"/>
            <a:ext cx="45154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FF79C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19714" y="2162718"/>
            <a:ext cx="465058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_dynamic_form_export_responses_start_batch()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19714" y="2547061"/>
            <a:ext cx="809433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 form IDs · count responses · build operations array · call batch_set()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922372" y="3308137"/>
            <a:ext cx="8551745" cy="1509941"/>
            <a:chOff x="0" y="0"/>
            <a:chExt cx="11402327" cy="20132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023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11402314">
                  <a:moveTo>
                    <a:pt x="0" y="0"/>
                  </a:moveTo>
                  <a:lnTo>
                    <a:pt x="11402314" y="0"/>
                  </a:lnTo>
                  <a:lnTo>
                    <a:pt x="114023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219714" y="3435096"/>
            <a:ext cx="92571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 1 / FORM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219714" y="3727561"/>
            <a:ext cx="373409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Init — create JSONL + write header row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19714" y="4111914"/>
            <a:ext cx="809433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Columns: Timestamp, Email, Respondent, Response ID, then one column per question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922372" y="4872990"/>
            <a:ext cx="8551745" cy="1509941"/>
            <a:chOff x="0" y="0"/>
            <a:chExt cx="11402327" cy="20132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4023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11402314">
                  <a:moveTo>
                    <a:pt x="0" y="0"/>
                  </a:moveTo>
                  <a:lnTo>
                    <a:pt x="11402314" y="0"/>
                  </a:lnTo>
                  <a:lnTo>
                    <a:pt x="114023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219714" y="4999949"/>
            <a:ext cx="56807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 2…N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219714" y="5292404"/>
            <a:ext cx="33464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Process — chunks of 200 responses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219714" y="5676757"/>
            <a:ext cx="809433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Fetch 200 responses + answers · append JSONL rows · update $context progress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922372" y="6437833"/>
            <a:ext cx="8551745" cy="1509941"/>
            <a:chOff x="0" y="0"/>
            <a:chExt cx="11402327" cy="201325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4023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11402314">
                  <a:moveTo>
                    <a:pt x="0" y="0"/>
                  </a:moveTo>
                  <a:lnTo>
                    <a:pt x="11402314" y="0"/>
                  </a:lnTo>
                  <a:lnTo>
                    <a:pt x="114023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219714" y="6564792"/>
            <a:ext cx="66436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FF79C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FINISHED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219714" y="6857257"/>
            <a:ext cx="381461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Assemble .xlsx via OpenSpout → stream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219714" y="7241600"/>
            <a:ext cx="809433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Reads all JSONL temp files · one sheet per form · browser download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0" y="0"/>
            <a:ext cx="82363" cy="10295039"/>
            <a:chOff x="0" y="0"/>
            <a:chExt cx="109817" cy="137267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85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125588"/>
            <a:chOff x="0" y="0"/>
            <a:chExt cx="24396967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301" y="287693"/>
            <a:ext cx="1195368" cy="550212"/>
            <a:chOff x="0" y="0"/>
            <a:chExt cx="1593825" cy="733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3850" cy="733679"/>
            </a:xfrm>
            <a:custGeom>
              <a:avLst/>
              <a:gdLst/>
              <a:ahLst/>
              <a:cxnLst/>
              <a:rect r="r" b="b" t="t" l="l"/>
              <a:pathLst>
                <a:path h="733679" w="1593850">
                  <a:moveTo>
                    <a:pt x="0" y="0"/>
                  </a:moveTo>
                  <a:lnTo>
                    <a:pt x="1593850" y="0"/>
                  </a:lnTo>
                  <a:lnTo>
                    <a:pt x="1593850" y="733679"/>
                  </a:lnTo>
                  <a:lnTo>
                    <a:pt x="0" y="7336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56" t="0" r="-9054" b="8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69950" y="346586"/>
            <a:ext cx="88780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7714" y="281035"/>
            <a:ext cx="547702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Apache Solr — dynamic_form_solr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00332" y="364512"/>
            <a:ext cx="599414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Only module that knows Solr exists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48" y="1280008"/>
            <a:ext cx="393513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HOOK-BASED INTEGRATION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823603" y="1674660"/>
          <a:ext cx="8922371" cy="2709862"/>
        </p:xfrm>
        <a:graphic>
          <a:graphicData uri="http://schemas.openxmlformats.org/drawingml/2006/table">
            <a:tbl>
              <a:tblPr/>
              <a:tblGrid>
                <a:gridCol w="4804353"/>
                <a:gridCol w="4118017"/>
              </a:tblGrid>
              <a:tr h="496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Event / Hook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Solr Action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96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hook_dynamic_form_response_predelete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deleteById response-{id}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hook_dynamic_form_form_predelete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deleteByQuery is_form_id:{id}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96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After submit (direct call)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Index response document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51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hook_menu_alter()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Replace tags autocomplete with Solr-powered version transparently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915048" y="4437155"/>
            <a:ext cx="393513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QUERY STRATEGY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3608" y="4831804"/>
            <a:ext cx="8922372" cy="3363049"/>
            <a:chOff x="0" y="0"/>
            <a:chExt cx="11896496" cy="44840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96471" cy="4484116"/>
            </a:xfrm>
            <a:custGeom>
              <a:avLst/>
              <a:gdLst/>
              <a:ahLst/>
              <a:cxnLst/>
              <a:rect r="r" b="b" t="t" l="l"/>
              <a:pathLst>
                <a:path h="4484116" w="11896471">
                  <a:moveTo>
                    <a:pt x="0" y="0"/>
                  </a:moveTo>
                  <a:lnTo>
                    <a:pt x="11896471" y="0"/>
                  </a:lnTo>
                  <a:lnTo>
                    <a:pt x="11896471" y="4484116"/>
                  </a:lnTo>
                  <a:lnTo>
                    <a:pt x="0" y="4484116"/>
                  </a:lnTo>
                  <a:close/>
                </a:path>
              </a:pathLst>
            </a:custGeom>
            <a:solidFill>
              <a:srgbClr val="0F0F1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84307" y="5142162"/>
            <a:ext cx="8327688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Filter queries (fq) — cached per shard, very fast: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entity_type:dynamic_form_response  |  is_form_id:12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ds_submitted_at:[2025-01-01T00:00:00Z TO *]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(ss_q_5:"Yes" OR ss_q_5:"No")  ← radio / single-value</a:t>
            </a:r>
          </a:p>
          <a:p>
            <a:pPr algn="l">
              <a:lnSpc>
                <a:spcPts val="1801"/>
              </a:lnSpc>
            </a:pP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Main query (q) — tokenised full-text: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tm_q_11:nepal* AND tm_q_14:budget*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Defaults to q=*:* when no text filter active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9214" y="1280008"/>
            <a:ext cx="393513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SOLR DOCUMENT FIELD SCHEMA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49214" y="1682277"/>
            <a:ext cx="713346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 field prefixes auto-type via apachesolr schema — no manual schema.xml edits.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157774" y="2292363"/>
            <a:ext cx="7316343" cy="1015775"/>
            <a:chOff x="0" y="0"/>
            <a:chExt cx="9755124" cy="13543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5124" cy="1354328"/>
            </a:xfrm>
            <a:custGeom>
              <a:avLst/>
              <a:gdLst/>
              <a:ahLst/>
              <a:cxnLst/>
              <a:rect r="r" b="b" t="t" l="l"/>
              <a:pathLst>
                <a:path h="1354328" w="9755124">
                  <a:moveTo>
                    <a:pt x="0" y="0"/>
                  </a:moveTo>
                  <a:lnTo>
                    <a:pt x="9755124" y="0"/>
                  </a:lnTo>
                  <a:lnTo>
                    <a:pt x="9755124" y="1354328"/>
                  </a:lnTo>
                  <a:lnTo>
                    <a:pt x="0" y="1354328"/>
                  </a:lnTo>
                  <a:close/>
                </a:path>
              </a:pathLst>
            </a:custGeom>
            <a:solidFill>
              <a:srgbClr val="D1FAE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413940" y="2419321"/>
            <a:ext cx="2562463" cy="32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65F46"/>
                </a:solidFill>
                <a:latin typeface="Consolas Bold"/>
                <a:ea typeface="Consolas Bold"/>
                <a:cs typeface="Consolas Bold"/>
                <a:sym typeface="Consolas Bold"/>
              </a:rPr>
              <a:t>tm_q_{qid}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13940" y="2794149"/>
            <a:ext cx="68589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text / textarea / tags — tokenised, multi-valued, full-text + cross-field tm_answers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157774" y="3390500"/>
            <a:ext cx="7316343" cy="1015775"/>
            <a:chOff x="0" y="0"/>
            <a:chExt cx="9755124" cy="13543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5124" cy="1354328"/>
            </a:xfrm>
            <a:custGeom>
              <a:avLst/>
              <a:gdLst/>
              <a:ahLst/>
              <a:cxnLst/>
              <a:rect r="r" b="b" t="t" l="l"/>
              <a:pathLst>
                <a:path h="1354328" w="9755124">
                  <a:moveTo>
                    <a:pt x="0" y="0"/>
                  </a:moveTo>
                  <a:lnTo>
                    <a:pt x="9755124" y="0"/>
                  </a:lnTo>
                  <a:lnTo>
                    <a:pt x="9755124" y="1354328"/>
                  </a:lnTo>
                  <a:lnTo>
                    <a:pt x="0" y="1354328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413940" y="3517459"/>
            <a:ext cx="2562463" cy="32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E40AF"/>
                </a:solidFill>
                <a:latin typeface="Consolas Bold"/>
                <a:ea typeface="Consolas Bold"/>
                <a:cs typeface="Consolas Bold"/>
                <a:sym typeface="Consolas Bold"/>
              </a:rPr>
              <a:t>sm_q_{qid}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13940" y="3892286"/>
            <a:ext cx="68589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checkbox / select arrays — string exact, multi-valued, facetable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157774" y="4488637"/>
            <a:ext cx="7316343" cy="1015775"/>
            <a:chOff x="0" y="0"/>
            <a:chExt cx="9755124" cy="13543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5124" cy="1354328"/>
            </a:xfrm>
            <a:custGeom>
              <a:avLst/>
              <a:gdLst/>
              <a:ahLst/>
              <a:cxnLst/>
              <a:rect r="r" b="b" t="t" l="l"/>
              <a:pathLst>
                <a:path h="1354328" w="9755124">
                  <a:moveTo>
                    <a:pt x="0" y="0"/>
                  </a:moveTo>
                  <a:lnTo>
                    <a:pt x="9755124" y="0"/>
                  </a:lnTo>
                  <a:lnTo>
                    <a:pt x="9755124" y="1354328"/>
                  </a:lnTo>
                  <a:lnTo>
                    <a:pt x="0" y="1354328"/>
                  </a:lnTo>
                  <a:close/>
                </a:path>
              </a:pathLst>
            </a:custGeom>
            <a:solidFill>
              <a:srgbClr val="FCE7F3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413940" y="4615596"/>
            <a:ext cx="2562463" cy="32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E91E8C"/>
                </a:solidFill>
                <a:latin typeface="Consolas Bold"/>
                <a:ea typeface="Consolas Bold"/>
                <a:cs typeface="Consolas Bold"/>
                <a:sym typeface="Consolas Bold"/>
              </a:rPr>
              <a:t>ss_q_{qid}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13940" y="4990424"/>
            <a:ext cx="68589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scalar answers (radio, date, rating) — string exact, single-valued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157774" y="5586774"/>
            <a:ext cx="7316343" cy="1015775"/>
            <a:chOff x="0" y="0"/>
            <a:chExt cx="9755124" cy="13543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5124" cy="1354328"/>
            </a:xfrm>
            <a:custGeom>
              <a:avLst/>
              <a:gdLst/>
              <a:ahLst/>
              <a:cxnLst/>
              <a:rect r="r" b="b" t="t" l="l"/>
              <a:pathLst>
                <a:path h="1354328" w="9755124">
                  <a:moveTo>
                    <a:pt x="0" y="0"/>
                  </a:moveTo>
                  <a:lnTo>
                    <a:pt x="9755124" y="0"/>
                  </a:lnTo>
                  <a:lnTo>
                    <a:pt x="9755124" y="1354328"/>
                  </a:lnTo>
                  <a:lnTo>
                    <a:pt x="0" y="1354328"/>
                  </a:lnTo>
                  <a:close/>
                </a:path>
              </a:pathLst>
            </a:custGeom>
            <a:solidFill>
              <a:srgbClr val="EDE9FE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413940" y="5713733"/>
            <a:ext cx="519770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5B21B6"/>
                </a:solidFill>
                <a:latin typeface="Consolas Bold"/>
                <a:ea typeface="Consolas Bold"/>
                <a:cs typeface="Consolas Bold"/>
                <a:sym typeface="Consolas Bold"/>
              </a:rPr>
              <a:t>is_form_id / is_response_id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13940" y="6206671"/>
            <a:ext cx="68589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integer fields — exact match, fast bitset filtering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157774" y="6684912"/>
            <a:ext cx="7316343" cy="1015775"/>
            <a:chOff x="0" y="0"/>
            <a:chExt cx="9755124" cy="135436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5124" cy="1354328"/>
            </a:xfrm>
            <a:custGeom>
              <a:avLst/>
              <a:gdLst/>
              <a:ahLst/>
              <a:cxnLst/>
              <a:rect r="r" b="b" t="t" l="l"/>
              <a:pathLst>
                <a:path h="1354328" w="9755124">
                  <a:moveTo>
                    <a:pt x="0" y="0"/>
                  </a:moveTo>
                  <a:lnTo>
                    <a:pt x="9755124" y="0"/>
                  </a:lnTo>
                  <a:lnTo>
                    <a:pt x="9755124" y="1354328"/>
                  </a:lnTo>
                  <a:lnTo>
                    <a:pt x="0" y="1354328"/>
                  </a:lnTo>
                  <a:close/>
                </a:path>
              </a:pathLst>
            </a:custGeom>
            <a:solidFill>
              <a:srgbClr val="FEF3C7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413940" y="6811870"/>
            <a:ext cx="2562463" cy="32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92400E"/>
                </a:solidFill>
                <a:latin typeface="Consolas Bold"/>
                <a:ea typeface="Consolas Bold"/>
                <a:cs typeface="Consolas Bold"/>
                <a:sym typeface="Consolas Bold"/>
              </a:rPr>
              <a:t>ds_submitted_at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13940" y="7186698"/>
            <a:ext cx="68589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ISO-8601 UTC — Solr date range queries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0" y="0"/>
            <a:ext cx="82363" cy="10295039"/>
            <a:chOff x="0" y="0"/>
            <a:chExt cx="109817" cy="137267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85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125588"/>
            <a:chOff x="0" y="0"/>
            <a:chExt cx="24396967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301" y="287693"/>
            <a:ext cx="1195368" cy="550212"/>
            <a:chOff x="0" y="0"/>
            <a:chExt cx="1593825" cy="733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3850" cy="733679"/>
            </a:xfrm>
            <a:custGeom>
              <a:avLst/>
              <a:gdLst/>
              <a:ahLst/>
              <a:cxnLst/>
              <a:rect r="r" b="b" t="t" l="l"/>
              <a:pathLst>
                <a:path h="733679" w="1593850">
                  <a:moveTo>
                    <a:pt x="0" y="0"/>
                  </a:moveTo>
                  <a:lnTo>
                    <a:pt x="1593850" y="0"/>
                  </a:lnTo>
                  <a:lnTo>
                    <a:pt x="1593850" y="733679"/>
                  </a:lnTo>
                  <a:lnTo>
                    <a:pt x="0" y="7336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56" t="0" r="-9054" b="8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69950" y="346586"/>
            <a:ext cx="88780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REST API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7715" y="281035"/>
            <a:ext cx="549756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REST API — contrib restws Module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3603" y="1262859"/>
          <a:ext cx="10275978" cy="4043362"/>
        </p:xfrm>
        <a:graphic>
          <a:graphicData uri="http://schemas.openxmlformats.org/drawingml/2006/table">
            <a:tbl>
              <a:tblPr/>
              <a:tblGrid>
                <a:gridCol w="959091"/>
                <a:gridCol w="5891561"/>
                <a:gridCol w="3425326"/>
              </a:tblGrid>
              <a:tr h="5054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Endpoint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54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/dynamic_form_form.json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Paginated list of forms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4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/dynamic_form_form/{id}.json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Single form by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54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/dynamic_form_section.json?parameters[form_id]=N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Sections for a form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4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/dynamic_form_question/{id}.json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Single question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54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/dynamic_form_question_option.json?parameters[question_id]=N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Options for a question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4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/dynamic_form_response.json?parameters[form_id]=N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Responses for a form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54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/dynamic_form_answer.json?parameters[response_id]=N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4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Answers for a response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10801" y="5463235"/>
            <a:ext cx="88302" cy="1043588"/>
            <a:chOff x="0" y="0"/>
            <a:chExt cx="100660" cy="11896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11" cy="1189609"/>
            </a:xfrm>
            <a:custGeom>
              <a:avLst/>
              <a:gdLst/>
              <a:ahLst/>
              <a:cxnLst/>
              <a:rect r="r" b="b" t="t" l="l"/>
              <a:pathLst>
                <a:path h="1189609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9103" y="5463235"/>
            <a:ext cx="10219544" cy="1061495"/>
            <a:chOff x="0" y="0"/>
            <a:chExt cx="13626059" cy="14153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26085" cy="1415281"/>
            </a:xfrm>
            <a:custGeom>
              <a:avLst/>
              <a:gdLst/>
              <a:ahLst/>
              <a:cxnLst/>
              <a:rect r="r" b="b" t="t" l="l"/>
              <a:pathLst>
                <a:path h="1415281" w="13626085">
                  <a:moveTo>
                    <a:pt x="0" y="0"/>
                  </a:moveTo>
                  <a:lnTo>
                    <a:pt x="13626085" y="0"/>
                  </a:lnTo>
                  <a:lnTo>
                    <a:pt x="13626085" y="1415281"/>
                  </a:lnTo>
                  <a:lnTo>
                    <a:pt x="0" y="1415281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96445" y="5617645"/>
            <a:ext cx="180022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Read-Only by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6445" y="6011523"/>
            <a:ext cx="982337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All writes go through the form builder and response submission flows where CSRF protection, flood control, and business rules are enforced. Auth: HTTP Basic Auth.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21891" y="1280008"/>
            <a:ext cx="393513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RESTWS WIRES TO ENTITIES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530451" y="1825657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99078" y="1990373"/>
            <a:ext cx="27451" cy="411804"/>
            <a:chOff x="0" y="0"/>
            <a:chExt cx="36601" cy="549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" cy="549021"/>
            </a:xfrm>
            <a:custGeom>
              <a:avLst/>
              <a:gdLst/>
              <a:ahLst/>
              <a:cxnLst/>
              <a:rect r="r" b="b" t="t" l="l"/>
              <a:pathLst>
                <a:path h="549021" w="36576">
                  <a:moveTo>
                    <a:pt x="0" y="0"/>
                  </a:moveTo>
                  <a:lnTo>
                    <a:pt x="36576" y="0"/>
                  </a:lnTo>
                  <a:lnTo>
                    <a:pt x="36576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923881" y="1760439"/>
            <a:ext cx="163532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hook_entity_info()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23881" y="2052904"/>
            <a:ext cx="636411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Declares entity types with 'controller class' key. restws reads this to discover the base table and entity keys.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530451" y="3335598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599078" y="3500314"/>
            <a:ext cx="27451" cy="411804"/>
            <a:chOff x="0" y="0"/>
            <a:chExt cx="36601" cy="5490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" cy="549021"/>
            </a:xfrm>
            <a:custGeom>
              <a:avLst/>
              <a:gdLst/>
              <a:ahLst/>
              <a:cxnLst/>
              <a:rect r="r" b="b" t="t" l="l"/>
              <a:pathLst>
                <a:path h="549021" w="36576">
                  <a:moveTo>
                    <a:pt x="0" y="0"/>
                  </a:moveTo>
                  <a:lnTo>
                    <a:pt x="36576" y="0"/>
                  </a:lnTo>
                  <a:lnTo>
                    <a:pt x="36576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923881" y="3270380"/>
            <a:ext cx="25038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hook_entity_property_info()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23881" y="3562845"/>
            <a:ext cx="626000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Declares typed field metadata. restws serialises each field to JSON automatically.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530451" y="4845529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111111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923881" y="4780321"/>
            <a:ext cx="307047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hook_restws_resource_info_alter()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23881" y="5072777"/>
            <a:ext cx="636411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Replaces default controller with DynamicFormRestWSEntityResourceController so list/count queries also respect deleted_at IS NULL.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530451" y="6341745"/>
            <a:ext cx="75495" cy="892235"/>
            <a:chOff x="0" y="0"/>
            <a:chExt cx="100660" cy="11896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711" cy="1189609"/>
            </a:xfrm>
            <a:custGeom>
              <a:avLst/>
              <a:gdLst/>
              <a:ahLst/>
              <a:cxnLst/>
              <a:rect r="r" b="b" t="t" l="l"/>
              <a:pathLst>
                <a:path h="1189609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05946" y="6341745"/>
            <a:ext cx="5868172" cy="892235"/>
            <a:chOff x="0" y="0"/>
            <a:chExt cx="7824229" cy="118964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24216" cy="1189609"/>
            </a:xfrm>
            <a:custGeom>
              <a:avLst/>
              <a:gdLst/>
              <a:ahLst/>
              <a:cxnLst/>
              <a:rect r="r" b="b" t="t" l="l"/>
              <a:pathLst>
                <a:path h="1189609" w="7824216">
                  <a:moveTo>
                    <a:pt x="0" y="0"/>
                  </a:moveTo>
                  <a:lnTo>
                    <a:pt x="7824216" y="0"/>
                  </a:lnTo>
                  <a:lnTo>
                    <a:pt x="7824216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903288" y="6496155"/>
            <a:ext cx="433863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Rate Limiting via flood_is_allowed() in hook_init()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03288" y="6890033"/>
            <a:ext cx="561707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60 requests / min per IP  ·  120 requests / min per authenticated user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0" y="0"/>
            <a:ext cx="82363" cy="10295039"/>
            <a:chOff x="0" y="0"/>
            <a:chExt cx="109817" cy="137267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85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125588"/>
            <a:chOff x="0" y="0"/>
            <a:chExt cx="24396967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301" y="287693"/>
            <a:ext cx="1195368" cy="550212"/>
            <a:chOff x="0" y="0"/>
            <a:chExt cx="1593825" cy="733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3850" cy="733679"/>
            </a:xfrm>
            <a:custGeom>
              <a:avLst/>
              <a:gdLst/>
              <a:ahLst/>
              <a:cxnLst/>
              <a:rect r="r" b="b" t="t" l="l"/>
              <a:pathLst>
                <a:path h="733679" w="1593850">
                  <a:moveTo>
                    <a:pt x="0" y="0"/>
                  </a:moveTo>
                  <a:lnTo>
                    <a:pt x="1593850" y="0"/>
                  </a:lnTo>
                  <a:lnTo>
                    <a:pt x="1593850" y="733679"/>
                  </a:lnTo>
                  <a:lnTo>
                    <a:pt x="0" y="7336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56" t="0" r="-9054" b="8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23608" y="3610127"/>
            <a:ext cx="6588824" cy="1853108"/>
            <a:chOff x="0" y="0"/>
            <a:chExt cx="8785098" cy="24708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85098" cy="2470785"/>
            </a:xfrm>
            <a:custGeom>
              <a:avLst/>
              <a:gdLst/>
              <a:ahLst/>
              <a:cxnLst/>
              <a:rect r="r" b="b" t="t" l="l"/>
              <a:pathLst>
                <a:path h="247078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67889" y="6062817"/>
            <a:ext cx="125809" cy="1418251"/>
            <a:chOff x="0" y="0"/>
            <a:chExt cx="100660" cy="11347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711" cy="1134745"/>
            </a:xfrm>
            <a:custGeom>
              <a:avLst/>
              <a:gdLst/>
              <a:ahLst/>
              <a:cxnLst/>
              <a:rect r="r" b="b" t="t" l="l"/>
              <a:pathLst>
                <a:path h="113474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3699" y="6062817"/>
            <a:ext cx="6513328" cy="1418251"/>
            <a:chOff x="0" y="0"/>
            <a:chExt cx="8684438" cy="18910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84387" cy="1891002"/>
            </a:xfrm>
            <a:custGeom>
              <a:avLst/>
              <a:gdLst/>
              <a:ahLst/>
              <a:cxnLst/>
              <a:rect r="r" b="b" t="t" l="l"/>
              <a:pathLst>
                <a:path h="1891002" w="8684387">
                  <a:moveTo>
                    <a:pt x="0" y="0"/>
                  </a:moveTo>
                  <a:lnTo>
                    <a:pt x="8684387" y="0"/>
                  </a:lnTo>
                  <a:lnTo>
                    <a:pt x="8684387" y="1891002"/>
                  </a:lnTo>
                  <a:lnTo>
                    <a:pt x="0" y="1891002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82363" cy="10295039"/>
            <a:chOff x="0" y="0"/>
            <a:chExt cx="109817" cy="137267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85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155381" y="2260784"/>
            <a:ext cx="8323753" cy="5220284"/>
          </a:xfrm>
          <a:custGeom>
            <a:avLst/>
            <a:gdLst/>
            <a:ahLst/>
            <a:cxnLst/>
            <a:rect r="r" b="b" t="t" l="l"/>
            <a:pathLst>
              <a:path h="5220284" w="8323753">
                <a:moveTo>
                  <a:pt x="0" y="0"/>
                </a:moveTo>
                <a:lnTo>
                  <a:pt x="8323753" y="0"/>
                </a:lnTo>
                <a:lnTo>
                  <a:pt x="8323753" y="5220284"/>
                </a:lnTo>
                <a:lnTo>
                  <a:pt x="0" y="5220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9950" y="346586"/>
            <a:ext cx="88780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87714" y="281035"/>
            <a:ext cx="616892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Caching — Memcache + drupal_static()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5048" y="1280008"/>
            <a:ext cx="393513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CACHE 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2126" y="3772948"/>
            <a:ext cx="273665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Memcache via cache_get()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2126" y="4254503"/>
            <a:ext cx="606277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Cross-request persistence. Contrib Memcache module replaces Drupal's DB cache backend transparently. Key: dynamic_form:questions:{form_id}.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1041" y="6217227"/>
            <a:ext cx="10395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Invalidation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1041" y="6611095"/>
            <a:ext cx="6215986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dynamic_form_invalidate_questions_cache($form_id) called on every question create, update, soft-delete, or reorder. Clears exact cache key + resets drupal_static.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15675" y="1280008"/>
            <a:ext cx="393513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DYNAMIC_FORM_GET_QUESTIONS() — ANNOTATED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125588"/>
            <a:chOff x="0" y="0"/>
            <a:chExt cx="24396967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301" y="287693"/>
            <a:ext cx="1195368" cy="550212"/>
            <a:chOff x="0" y="0"/>
            <a:chExt cx="1593825" cy="733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3850" cy="733679"/>
            </a:xfrm>
            <a:custGeom>
              <a:avLst/>
              <a:gdLst/>
              <a:ahLst/>
              <a:cxnLst/>
              <a:rect r="r" b="b" t="t" l="l"/>
              <a:pathLst>
                <a:path h="733679" w="1593850">
                  <a:moveTo>
                    <a:pt x="0" y="0"/>
                  </a:moveTo>
                  <a:lnTo>
                    <a:pt x="1593850" y="0"/>
                  </a:lnTo>
                  <a:lnTo>
                    <a:pt x="1593850" y="733679"/>
                  </a:lnTo>
                  <a:lnTo>
                    <a:pt x="0" y="7336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56" t="0" r="-9054" b="8"/>
              </a:stretch>
            </a:blipFill>
            <a:ln w="28597" cap="sq">
              <a:solidFill>
                <a:srgbClr val="E91E8C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69950" y="346586"/>
            <a:ext cx="88780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REFACTOR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7714" y="281035"/>
            <a:ext cx="725864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Week — Refactoring to Drupal 7 Patterns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1262863"/>
            <a:ext cx="8187995" cy="3884657"/>
            <a:chOff x="0" y="0"/>
            <a:chExt cx="10917326" cy="5179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17301" cy="5179543"/>
            </a:xfrm>
            <a:custGeom>
              <a:avLst/>
              <a:gdLst/>
              <a:ahLst/>
              <a:cxnLst/>
              <a:rect r="r" b="b" t="t" l="l"/>
              <a:pathLst>
                <a:path h="5179543" w="10917301">
                  <a:moveTo>
                    <a:pt x="0" y="0"/>
                  </a:moveTo>
                  <a:lnTo>
                    <a:pt x="10917301" y="0"/>
                  </a:lnTo>
                  <a:lnTo>
                    <a:pt x="10917301" y="5179543"/>
                  </a:lnTo>
                  <a:lnTo>
                    <a:pt x="0" y="5179543"/>
                  </a:lnTo>
                  <a:close/>
                </a:path>
              </a:pathLst>
            </a:custGeom>
            <a:solidFill>
              <a:srgbClr val="FFF8F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3608" y="1262863"/>
            <a:ext cx="8187995" cy="480431"/>
            <a:chOff x="0" y="0"/>
            <a:chExt cx="10917326" cy="64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17301" cy="640588"/>
            </a:xfrm>
            <a:custGeom>
              <a:avLst/>
              <a:gdLst/>
              <a:ahLst/>
              <a:cxnLst/>
              <a:rect r="r" b="b" t="t" l="l"/>
              <a:pathLst>
                <a:path h="640588" w="10917301">
                  <a:moveTo>
                    <a:pt x="0" y="0"/>
                  </a:moveTo>
                  <a:lnTo>
                    <a:pt x="10917301" y="0"/>
                  </a:lnTo>
                  <a:lnTo>
                    <a:pt x="10917301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20940" y="1348635"/>
            <a:ext cx="7730576" cy="30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● Before — Raw PHP / HTML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9577" y="1888179"/>
            <a:ext cx="759331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— Builder page used raw db_select() for form load — no entity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9577" y="2464708"/>
            <a:ext cx="759331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— No involvement of Controllers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9577" y="3041228"/>
            <a:ext cx="759331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— Inline HTML strings for section cards, modals, question cards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9577" y="3617747"/>
            <a:ext cx="759331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— AJAX endpoints returned raw HTML fragments, not Drupal command arrays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9577" y="4194267"/>
            <a:ext cx="759331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— JS autocomplete used raw XMLHttpRequest instead of Drupal.behaviors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9577" y="4770796"/>
            <a:ext cx="759331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— Missing flood control on AJAX endpoint — vulnerable to DDoS / abuse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86132" y="1262863"/>
            <a:ext cx="8187995" cy="3884657"/>
            <a:chOff x="0" y="0"/>
            <a:chExt cx="10917326" cy="51795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17301" cy="5179543"/>
            </a:xfrm>
            <a:custGeom>
              <a:avLst/>
              <a:gdLst/>
              <a:ahLst/>
              <a:cxnLst/>
              <a:rect r="r" b="b" t="t" l="l"/>
              <a:pathLst>
                <a:path h="5179543" w="10917301">
                  <a:moveTo>
                    <a:pt x="0" y="0"/>
                  </a:moveTo>
                  <a:lnTo>
                    <a:pt x="10917301" y="0"/>
                  </a:lnTo>
                  <a:lnTo>
                    <a:pt x="10917301" y="5179543"/>
                  </a:lnTo>
                  <a:lnTo>
                    <a:pt x="0" y="5179543"/>
                  </a:lnTo>
                  <a:close/>
                </a:path>
              </a:pathLst>
            </a:custGeom>
            <a:solidFill>
              <a:srgbClr val="F6FFF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286132" y="1262863"/>
            <a:ext cx="8187995" cy="480431"/>
            <a:chOff x="0" y="0"/>
            <a:chExt cx="10917326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17301" cy="640588"/>
            </a:xfrm>
            <a:custGeom>
              <a:avLst/>
              <a:gdLst/>
              <a:ahLst/>
              <a:cxnLst/>
              <a:rect r="r" b="b" t="t" l="l"/>
              <a:pathLst>
                <a:path h="640588" w="10917301">
                  <a:moveTo>
                    <a:pt x="0" y="0"/>
                  </a:moveTo>
                  <a:lnTo>
                    <a:pt x="10917301" y="0"/>
                  </a:lnTo>
                  <a:lnTo>
                    <a:pt x="10917301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583474" y="1348635"/>
            <a:ext cx="7730576" cy="30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After — Drupal 7 Way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52102" y="1888179"/>
            <a:ext cx="7593311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✓ entity_get_controller('dynamic_form_form')-&gt;loadSingle($id)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2102" y="2464708"/>
            <a:ext cx="759331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✓ Use of DrupalDefaultEntityController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52102" y="3041228"/>
            <a:ext cx="7593311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✓ All UI markup moved to theme() calls with .tpl.php in hook_theme()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52102" y="3617747"/>
            <a:ext cx="7593311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✓ AJAX callbacks return structured command arrays: ajax_command_replace() etc.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52102" y="4194267"/>
            <a:ext cx="7593311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✓ Autocomplete uses Drupal.behaviors — safe attach, no double-init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52102" y="4770796"/>
            <a:ext cx="759331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✓ Flood control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23608" y="6890814"/>
            <a:ext cx="5367147" cy="1125588"/>
            <a:chOff x="0" y="0"/>
            <a:chExt cx="7156196" cy="15007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56196" cy="1500759"/>
            </a:xfrm>
            <a:custGeom>
              <a:avLst/>
              <a:gdLst/>
              <a:ahLst/>
              <a:cxnLst/>
              <a:rect r="r" b="b" t="t" l="l"/>
              <a:pathLst>
                <a:path h="1500759" w="7156196">
                  <a:moveTo>
                    <a:pt x="0" y="0"/>
                  </a:moveTo>
                  <a:lnTo>
                    <a:pt x="7156196" y="0"/>
                  </a:lnTo>
                  <a:lnTo>
                    <a:pt x="7156196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3608" y="6890814"/>
            <a:ext cx="75495" cy="1125588"/>
            <a:chOff x="0" y="0"/>
            <a:chExt cx="100660" cy="15007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71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79764" y="7017772"/>
            <a:ext cx="231070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11111"/>
                </a:solidFill>
                <a:latin typeface="Consolas Bold"/>
                <a:ea typeface="Consolas Bold"/>
                <a:cs typeface="Consolas Bold"/>
                <a:sym typeface="Consolas Bold"/>
              </a:rPr>
              <a:t>drupal_write_record()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79764" y="7392600"/>
            <a:ext cx="497836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Replaces raw INSERT/UPDATE — schema introspection + type coercion automatically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465284" y="6890814"/>
            <a:ext cx="5367147" cy="1125588"/>
            <a:chOff x="0" y="0"/>
            <a:chExt cx="7156196" cy="15007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56196" cy="1500759"/>
            </a:xfrm>
            <a:custGeom>
              <a:avLst/>
              <a:gdLst/>
              <a:ahLst/>
              <a:cxnLst/>
              <a:rect r="r" b="b" t="t" l="l"/>
              <a:pathLst>
                <a:path h="1500759" w="7156196">
                  <a:moveTo>
                    <a:pt x="0" y="0"/>
                  </a:moveTo>
                  <a:lnTo>
                    <a:pt x="7156196" y="0"/>
                  </a:lnTo>
                  <a:lnTo>
                    <a:pt x="7156196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65284" y="6890814"/>
            <a:ext cx="75495" cy="1125588"/>
            <a:chOff x="0" y="0"/>
            <a:chExt cx="100660" cy="15007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71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721450" y="7017772"/>
            <a:ext cx="209058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11111"/>
                </a:solidFill>
                <a:latin typeface="Consolas Bold"/>
                <a:ea typeface="Consolas Bold"/>
                <a:cs typeface="Consolas Bold"/>
                <a:sym typeface="Consolas Bold"/>
              </a:rPr>
              <a:t>form_load_include()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21450" y="7392600"/>
            <a:ext cx="497836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Ensures .inc files load during AJAX rebuilds via $form_state['build_info']['files'][]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106970" y="6890814"/>
            <a:ext cx="5367147" cy="1125588"/>
            <a:chOff x="0" y="0"/>
            <a:chExt cx="7156196" cy="15007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56196" cy="1500759"/>
            </a:xfrm>
            <a:custGeom>
              <a:avLst/>
              <a:gdLst/>
              <a:ahLst/>
              <a:cxnLst/>
              <a:rect r="r" b="b" t="t" l="l"/>
              <a:pathLst>
                <a:path h="1500759" w="7156196">
                  <a:moveTo>
                    <a:pt x="0" y="0"/>
                  </a:moveTo>
                  <a:lnTo>
                    <a:pt x="7156196" y="0"/>
                  </a:lnTo>
                  <a:lnTo>
                    <a:pt x="7156196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106970" y="6890814"/>
            <a:ext cx="75495" cy="1125588"/>
            <a:chOff x="0" y="0"/>
            <a:chExt cx="100660" cy="15007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71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2363136" y="7017772"/>
            <a:ext cx="4978365" cy="26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11111"/>
                </a:solidFill>
                <a:latin typeface="Consolas Bold"/>
                <a:ea typeface="Consolas Bold"/>
                <a:cs typeface="Consolas Bold"/>
                <a:sym typeface="Consolas Bold"/>
              </a:rPr>
              <a:t>drupal_valid_token()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63136" y="7392600"/>
            <a:ext cx="497836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CSRF protection on every AJAX POST endpoint — replaces ad-hoc nonce checking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0" y="0"/>
            <a:ext cx="82363" cy="10295039"/>
            <a:chOff x="0" y="0"/>
            <a:chExt cx="109817" cy="1372671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85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91E8C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A1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" y="3336408"/>
            <a:ext cx="18114845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93"/>
              </a:lnSpc>
            </a:pPr>
            <a:r>
              <a:rPr lang="en-US" sz="14411" b="true">
                <a:solidFill>
                  <a:srgbClr val="E91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DAHNMMnOiNw</dc:identifier>
  <dcterms:modified xsi:type="dcterms:W3CDTF">2011-08-01T06:04:30Z</dcterms:modified>
  <cp:revision>1</cp:revision>
  <dc:title>Dynamic Form Builder Final</dc:title>
</cp:coreProperties>
</file>