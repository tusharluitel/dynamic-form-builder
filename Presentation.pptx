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8"/>
  </p:normalViewPr>
  <p:slideViewPr>
    <p:cSldViewPr snapToGrid="0" snapToObjects="1">
      <p:cViewPr>
        <p:scale>
          <a:sx n="74" d="100"/>
          <a:sy n="74" d="100"/>
        </p:scale>
        <p:origin x="600" y="4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10287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177272"/>
            <a:ext cx="18288000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371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 dirty="0">
                <a:solidFill>
                  <a:srgbClr val="1A1A2E"/>
                </a:solidFill>
              </a:rPr>
              <a:t>Dynamic Form Builder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54980"/>
            <a:ext cx="1371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D4ED8"/>
                </a:solidFill>
              </a:rPr>
              <a:t>Technical Progress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07840" y="9902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1257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38912"/>
            <a:ext cx="17373600" cy="25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A1A2E"/>
                </a:solidFill>
              </a:rPr>
              <a:t>Old Database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12161520" y="530352"/>
            <a:ext cx="155448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12161520" y="548640"/>
            <a:ext cx="1554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463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6B7280"/>
                </a:solidFill>
              </a:rPr>
              <a:t>Initial design — 8 tables</a:t>
            </a:r>
          </a:p>
        </p:txBody>
      </p:sp>
      <p:pic>
        <p:nvPicPr>
          <p:cNvPr id="8" name="Picture 7" descr="pptx_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8686800" cy="7132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418320" y="1508760"/>
            <a:ext cx="6583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What the old schema had: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20" y="1920240"/>
            <a:ext cx="676656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9555480" y="1971040"/>
            <a:ext cx="6492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▸  forms, sections, questions, question_options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0" y="2322576"/>
            <a:ext cx="67665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9555480" y="2373376"/>
            <a:ext cx="6492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▸  answers, answer_file, responses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2724912"/>
            <a:ext cx="676656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9555480" y="2775712"/>
            <a:ext cx="6492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A1A2E"/>
                </a:solidFill>
              </a:rPr>
              <a:t>▸  </a:t>
            </a:r>
            <a:r>
              <a:rPr sz="2000" b="0" i="0" dirty="0" err="1">
                <a:solidFill>
                  <a:srgbClr val="1A1A2E"/>
                </a:solidFill>
              </a:rPr>
              <a:t>form_members</a:t>
            </a:r>
            <a:r>
              <a:rPr sz="2000" b="0" i="0" dirty="0">
                <a:solidFill>
                  <a:srgbClr val="1A1A2E"/>
                </a:solidFill>
              </a:rPr>
              <a:t> (users → forms)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3127248"/>
            <a:ext cx="67665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9555480" y="3178048"/>
            <a:ext cx="6492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▸  validation_rules stored as JSON blob in questions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0" y="3529584"/>
            <a:ext cx="676656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9555480" y="3580384"/>
            <a:ext cx="6492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▸  No deleted_at column — hard deletes 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18320" y="3931920"/>
            <a:ext cx="67665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9555480" y="3982720"/>
            <a:ext cx="6492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▸  No audit log table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4334256"/>
            <a:ext cx="676656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9555480" y="4385056"/>
            <a:ext cx="6492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▸  No invitations 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4736592"/>
            <a:ext cx="67665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TextBox 24"/>
          <p:cNvSpPr txBox="1"/>
          <p:nvPr/>
        </p:nvSpPr>
        <p:spPr>
          <a:xfrm>
            <a:off x="9555480" y="4787392"/>
            <a:ext cx="6492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▸  No tags tables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18320" y="5138928"/>
            <a:ext cx="676656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9555480" y="5189728"/>
            <a:ext cx="6492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▸  No response_sessions table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07840" y="9902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" y="438912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38912"/>
            <a:ext cx="17373600" cy="25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New Database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12161520" y="530352"/>
            <a:ext cx="155448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12161520" y="548640"/>
            <a:ext cx="1554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After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463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6B7280"/>
                </a:solidFill>
              </a:rPr>
              <a:t>1</a:t>
            </a:r>
            <a:r>
              <a:rPr lang="en-US" sz="1400" b="0" i="1" dirty="0">
                <a:solidFill>
                  <a:srgbClr val="6B7280"/>
                </a:solidFill>
              </a:rPr>
              <a:t>6</a:t>
            </a:r>
            <a:r>
              <a:rPr sz="1400" b="0" i="1" dirty="0">
                <a:solidFill>
                  <a:srgbClr val="6B7280"/>
                </a:solidFill>
              </a:rPr>
              <a:t> tables — with soft delete; added via </a:t>
            </a:r>
            <a:r>
              <a:rPr sz="1400" b="0" i="1" dirty="0" err="1">
                <a:solidFill>
                  <a:srgbClr val="6B7280"/>
                </a:solidFill>
              </a:rPr>
              <a:t>hook_schema</a:t>
            </a:r>
            <a:r>
              <a:rPr sz="1400" b="0" i="1" dirty="0">
                <a:solidFill>
                  <a:srgbClr val="6B7280"/>
                </a:solidFill>
              </a:rPr>
              <a:t>() + update hooks</a:t>
            </a:r>
          </a:p>
        </p:txBody>
      </p:sp>
      <p:pic>
        <p:nvPicPr>
          <p:cNvPr id="8" name="Picture 7" descr="pptx_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8503920" cy="7132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35439" y="1508760"/>
            <a:ext cx="90481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What changed: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35439" y="1920239"/>
            <a:ext cx="9167183" cy="1283501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9372600" y="1971039"/>
            <a:ext cx="38097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4ED8"/>
                </a:solidFill>
              </a:rPr>
              <a:t>+  deleted_at / deleted_by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0" y="1971039"/>
            <a:ext cx="51193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1A1A2E"/>
                </a:solidFill>
              </a:rPr>
              <a:t>       </a:t>
            </a:r>
            <a:r>
              <a:rPr sz="2000" b="0" i="0" dirty="0">
                <a:solidFill>
                  <a:srgbClr val="1A1A2E"/>
                </a:solidFill>
              </a:rPr>
              <a:t>Added to ALL 5 entity tables — enables soft d</a:t>
            </a:r>
            <a:r>
              <a:rPr lang="en-US" sz="2000" b="0" i="0" dirty="0">
                <a:solidFill>
                  <a:srgbClr val="1A1A2E"/>
                </a:solidFill>
              </a:rPr>
              <a:t>. </a:t>
            </a:r>
            <a:r>
              <a:rPr sz="2000" b="0" i="0" dirty="0" err="1">
                <a:solidFill>
                  <a:srgbClr val="1A1A2E"/>
                </a:solidFill>
              </a:rPr>
              <a:t>elete</a:t>
            </a:r>
            <a:endParaRPr sz="2000" b="0" i="0" dirty="0">
              <a:solidFill>
                <a:srgbClr val="1A1A2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235439" y="2313431"/>
            <a:ext cx="9167183" cy="128350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9372600" y="2364231"/>
            <a:ext cx="38097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4ED8"/>
                </a:solidFill>
              </a:rPr>
              <a:t>+  dynamic_form_audit_log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0" y="2364231"/>
            <a:ext cx="51193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dirty="0">
                <a:solidFill>
                  <a:srgbClr val="1A1A2E"/>
                </a:solidFill>
              </a:rPr>
              <a:t>       </a:t>
            </a:r>
            <a:r>
              <a:rPr sz="2000" b="0" i="0" dirty="0">
                <a:solidFill>
                  <a:srgbClr val="1A1A2E"/>
                </a:solidFill>
              </a:rPr>
              <a:t>Append-only log; </a:t>
            </a:r>
            <a:r>
              <a:rPr sz="2000" b="0" i="0" dirty="0" err="1">
                <a:solidFill>
                  <a:srgbClr val="1A1A2E"/>
                </a:solidFill>
              </a:rPr>
              <a:t>old_value</a:t>
            </a:r>
            <a:r>
              <a:rPr sz="2000" b="0" i="0" dirty="0">
                <a:solidFill>
                  <a:srgbClr val="1A1A2E"/>
                </a:solidFill>
              </a:rPr>
              <a:t> + </a:t>
            </a:r>
            <a:r>
              <a:rPr sz="2000" b="0" i="0" dirty="0" err="1">
                <a:solidFill>
                  <a:srgbClr val="1A1A2E"/>
                </a:solidFill>
              </a:rPr>
              <a:t>new_value</a:t>
            </a:r>
            <a:r>
              <a:rPr sz="2000" b="0" i="0" dirty="0">
                <a:solidFill>
                  <a:srgbClr val="1A1A2E"/>
                </a:solidFill>
              </a:rPr>
              <a:t> as JSON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39" y="2706623"/>
            <a:ext cx="9167183" cy="1283501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9372600" y="2757423"/>
            <a:ext cx="38097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4ED8"/>
                </a:solidFill>
              </a:rPr>
              <a:t>+  dynamic_form_invitations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0" y="2757423"/>
            <a:ext cx="51193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1A1A2E"/>
                </a:solidFill>
              </a:rPr>
              <a:t>       </a:t>
            </a:r>
            <a:r>
              <a:rPr sz="2000" b="0" i="0" dirty="0">
                <a:solidFill>
                  <a:srgbClr val="1A1A2E"/>
                </a:solidFill>
              </a:rPr>
              <a:t>Token-based email invites; 7-day expiry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39" y="3099815"/>
            <a:ext cx="9167183" cy="128350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9372600" y="3150615"/>
            <a:ext cx="38097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4ED8"/>
                </a:solidFill>
              </a:rPr>
              <a:t>+  dynamic_form_tags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0" y="3150615"/>
            <a:ext cx="51193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1A1A2E"/>
                </a:solidFill>
              </a:rPr>
              <a:t>       </a:t>
            </a:r>
            <a:r>
              <a:rPr sz="2000" b="0" i="0" dirty="0">
                <a:solidFill>
                  <a:srgbClr val="1A1A2E"/>
                </a:solidFill>
              </a:rPr>
              <a:t>Canonical tag dictionary — </a:t>
            </a:r>
            <a:r>
              <a:rPr sz="2000" b="0" i="0" dirty="0" err="1">
                <a:solidFill>
                  <a:srgbClr val="1A1A2E"/>
                </a:solidFill>
              </a:rPr>
              <a:t>normalised</a:t>
            </a:r>
            <a:r>
              <a:rPr sz="2000" b="0" i="0" dirty="0">
                <a:solidFill>
                  <a:srgbClr val="1A1A2E"/>
                </a:solidFill>
              </a:rPr>
              <a:t> values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39" y="3493007"/>
            <a:ext cx="9167183" cy="1283501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9372600" y="3543807"/>
            <a:ext cx="38097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D4ED8"/>
                </a:solidFill>
              </a:rPr>
              <a:t>+  </a:t>
            </a:r>
            <a:r>
              <a:rPr sz="2000" b="1" i="0" dirty="0" err="1">
                <a:solidFill>
                  <a:srgbClr val="1D4ED8"/>
                </a:solidFill>
              </a:rPr>
              <a:t>dynamic_form_tag_answers</a:t>
            </a:r>
            <a:endParaRPr sz="2000" b="1" i="0" dirty="0">
              <a:solidFill>
                <a:srgbClr val="1D4ED8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252960" y="3543808"/>
            <a:ext cx="51193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1A1A2E"/>
                </a:solidFill>
              </a:rPr>
              <a:t>       </a:t>
            </a:r>
            <a:r>
              <a:rPr sz="2000" b="0" i="0" dirty="0">
                <a:solidFill>
                  <a:srgbClr val="1A1A2E"/>
                </a:solidFill>
              </a:rPr>
              <a:t>response × question × tag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39" y="3886199"/>
            <a:ext cx="9167183" cy="128350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9372600" y="3936999"/>
            <a:ext cx="38097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4ED8"/>
                </a:solidFill>
              </a:rPr>
              <a:t>+  response_sessions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0" y="3937000"/>
            <a:ext cx="51193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1A1A2E"/>
                </a:solidFill>
              </a:rPr>
              <a:t>        </a:t>
            </a:r>
            <a:r>
              <a:rPr sz="2000" b="0" i="0" dirty="0">
                <a:solidFill>
                  <a:srgbClr val="1A1A2E"/>
                </a:solidFill>
              </a:rPr>
              <a:t>IP, </a:t>
            </a:r>
            <a:r>
              <a:rPr sz="2000" b="0" i="0" dirty="0" err="1">
                <a:solidFill>
                  <a:srgbClr val="1A1A2E"/>
                </a:solidFill>
              </a:rPr>
              <a:t>user_agent</a:t>
            </a:r>
            <a:endParaRPr sz="2000" b="0" i="0" dirty="0">
              <a:solidFill>
                <a:srgbClr val="1A1A2E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235439" y="4279391"/>
            <a:ext cx="9167183" cy="1283501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9" name="TextBox 28"/>
          <p:cNvSpPr txBox="1"/>
          <p:nvPr/>
        </p:nvSpPr>
        <p:spPr>
          <a:xfrm>
            <a:off x="9372600" y="4330191"/>
            <a:ext cx="38097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4ED8"/>
                </a:solidFill>
              </a:rPr>
              <a:t>+  question_validations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52960" y="4330191"/>
            <a:ext cx="51193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1A1A2E"/>
                </a:solidFill>
              </a:rPr>
              <a:t>        </a:t>
            </a:r>
            <a:r>
              <a:rPr sz="2000" b="0" i="0" dirty="0" err="1">
                <a:solidFill>
                  <a:srgbClr val="1A1A2E"/>
                </a:solidFill>
              </a:rPr>
              <a:t>Normalised</a:t>
            </a:r>
            <a:r>
              <a:rPr sz="2000" b="0" i="0" dirty="0">
                <a:solidFill>
                  <a:srgbClr val="1A1A2E"/>
                </a:solidFill>
              </a:rPr>
              <a:t> rules (was JSON blob)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39" y="4672583"/>
            <a:ext cx="9167183" cy="94110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TextBox 31"/>
          <p:cNvSpPr txBox="1"/>
          <p:nvPr/>
        </p:nvSpPr>
        <p:spPr>
          <a:xfrm>
            <a:off x="9372600" y="4723383"/>
            <a:ext cx="38097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4ED8"/>
                </a:solidFill>
              </a:rPr>
              <a:t>~  forms.slug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52960" y="4723383"/>
            <a:ext cx="51193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1A1A2E"/>
                </a:solidFill>
              </a:rPr>
              <a:t>        </a:t>
            </a:r>
            <a:r>
              <a:rPr sz="2000" b="0" i="0" dirty="0">
                <a:solidFill>
                  <a:srgbClr val="1A1A2E"/>
                </a:solidFill>
              </a:rPr>
              <a:t>Auto-generated, unique, collision-safe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39" y="5065776"/>
            <a:ext cx="9167183" cy="4971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5" name="TextBox 34"/>
          <p:cNvSpPr txBox="1"/>
          <p:nvPr/>
        </p:nvSpPr>
        <p:spPr>
          <a:xfrm>
            <a:off x="9372600" y="5116575"/>
            <a:ext cx="38097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4ED8"/>
                </a:solidFill>
              </a:rPr>
              <a:t>~  forms.visibility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252960" y="5116575"/>
            <a:ext cx="51193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1A1A2E"/>
                </a:solidFill>
              </a:rPr>
              <a:t>        </a:t>
            </a:r>
            <a:r>
              <a:rPr sz="2000" b="0" i="0" dirty="0">
                <a:solidFill>
                  <a:srgbClr val="1A1A2E"/>
                </a:solidFill>
              </a:rPr>
              <a:t>p / r / m  (public, restricted, members)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39" y="7238206"/>
            <a:ext cx="58765" cy="160709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1" name="Rectangle 40"/>
          <p:cNvSpPr/>
          <p:nvPr/>
        </p:nvSpPr>
        <p:spPr>
          <a:xfrm>
            <a:off x="9286240" y="7238206"/>
            <a:ext cx="8086056" cy="160709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2" name="TextBox 41"/>
          <p:cNvSpPr txBox="1"/>
          <p:nvPr/>
        </p:nvSpPr>
        <p:spPr>
          <a:xfrm>
            <a:off x="9372599" y="7763933"/>
            <a:ext cx="79332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D4ED8"/>
                </a:solidFill>
              </a:rPr>
              <a:t>Schema evolved in 3 update hooks: 7001 (tags), 7002 (width column), 7003 (invitations)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007840" y="9902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0493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38912"/>
            <a:ext cx="17373600" cy="25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Custom Theme: dynamic_form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463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</a:rPr>
              <a:t>Activated programmatically on module enable — overrides Drupal's default Bartik theme</a:t>
            </a:r>
          </a:p>
        </p:txBody>
      </p:sp>
      <p:pic>
        <p:nvPicPr>
          <p:cNvPr id="6" name="Picture 5" descr="pptx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77240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3095752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A1A2E"/>
                </a:solidFill>
              </a:rPr>
              <a:t>How theme activation works: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3507232"/>
            <a:ext cx="7906294" cy="2651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8668512" y="3616960"/>
            <a:ext cx="7263527" cy="25545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>
                <a:solidFill>
                  <a:srgbClr val="1E40AF"/>
                </a:solidFill>
                <a:latin typeface="Courier New"/>
              </a:rPr>
              <a:t>// In 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dynamic_form.install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 — 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hook_enable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():</a:t>
            </a:r>
          </a:p>
          <a:p>
            <a:r>
              <a:rPr sz="2000" dirty="0" err="1">
                <a:solidFill>
                  <a:srgbClr val="1E40AF"/>
                </a:solidFill>
                <a:latin typeface="Courier New"/>
              </a:rPr>
              <a:t>theme_enable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(array('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dynamic_form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'));</a:t>
            </a:r>
          </a:p>
          <a:p>
            <a:r>
              <a:rPr sz="2000" dirty="0" err="1">
                <a:solidFill>
                  <a:srgbClr val="1E40AF"/>
                </a:solidFill>
                <a:latin typeface="Courier New"/>
              </a:rPr>
              <a:t>variable_set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('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theme_default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', '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dynamic_form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');</a:t>
            </a:r>
          </a:p>
          <a:p>
            <a:r>
              <a:rPr sz="2000" dirty="0" err="1">
                <a:solidFill>
                  <a:srgbClr val="1E40AF"/>
                </a:solidFill>
                <a:latin typeface="Courier New"/>
              </a:rPr>
              <a:t>drupal_theme_rebuild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();</a:t>
            </a:r>
          </a:p>
          <a:p>
            <a:endParaRPr sz="2000" dirty="0">
              <a:solidFill>
                <a:srgbClr val="1E40AF"/>
              </a:solidFill>
              <a:latin typeface="Courier New"/>
            </a:endParaRP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// 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hook_disable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() — reverts cleanly:</a:t>
            </a:r>
          </a:p>
          <a:p>
            <a:r>
              <a:rPr sz="2000" dirty="0" err="1">
                <a:solidFill>
                  <a:srgbClr val="1E40AF"/>
                </a:solidFill>
                <a:latin typeface="Courier New"/>
              </a:rPr>
              <a:t>variable_set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('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theme_default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', '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bartik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');</a:t>
            </a:r>
          </a:p>
          <a:p>
            <a:r>
              <a:rPr sz="2000" dirty="0" err="1">
                <a:solidFill>
                  <a:srgbClr val="1E40AF"/>
                </a:solidFill>
                <a:latin typeface="Courier New"/>
              </a:rPr>
              <a:t>theme_disable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(array('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dynamic_form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'));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3567" y="6739845"/>
            <a:ext cx="13352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Key overriding points: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63567" y="7133037"/>
            <a:ext cx="13352889" cy="718555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3600727" y="7183838"/>
            <a:ext cx="43985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4ED8"/>
                </a:solidFill>
              </a:rPr>
              <a:t>hook_theme()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5327" y="7183838"/>
            <a:ext cx="86401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Registers 'dynamic_form_dashboard' template with sidebar + content vars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63567" y="7526229"/>
            <a:ext cx="13352889" cy="71855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3600727" y="7577030"/>
            <a:ext cx="43985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4ED8"/>
                </a:solidFill>
              </a:rPr>
              <a:t>template.php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5327" y="7577030"/>
            <a:ext cx="86401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Preprocesses variables before tpl.php renders (adds user context, nav)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63567" y="7919421"/>
            <a:ext cx="13352889" cy="718555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3600727" y="7970222"/>
            <a:ext cx="43985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4ED8"/>
                </a:solidFill>
              </a:rPr>
              <a:t>page.tpl.php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5327" y="7970222"/>
            <a:ext cx="86401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A1A2E"/>
                </a:solidFill>
              </a:rPr>
              <a:t>Replaces Drupal's default page HTML — controls nav, header, footer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63567" y="8312613"/>
            <a:ext cx="13352889" cy="71855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3600727" y="8363414"/>
            <a:ext cx="43985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4ED8"/>
                </a:solidFill>
              </a:rPr>
              <a:t>dashboard.tpl.php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15328" y="8363414"/>
            <a:ext cx="100539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A1A2E"/>
                </a:solidFill>
              </a:rPr>
              <a:t>Custom layout: sidebar nav + main content region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07840" y="9902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38912"/>
            <a:ext cx="17373600" cy="25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Theme File Structure &amp; Template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463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6B7280"/>
                </a:solidFill>
              </a:rPr>
              <a:t>themes/</a:t>
            </a:r>
            <a:r>
              <a:rPr sz="1400" b="0" i="1" dirty="0" err="1">
                <a:solidFill>
                  <a:srgbClr val="6B7280"/>
                </a:solidFill>
              </a:rPr>
              <a:t>dynamic_form</a:t>
            </a:r>
            <a:r>
              <a:rPr sz="1400" b="0" i="1" dirty="0">
                <a:solidFill>
                  <a:srgbClr val="6B7280"/>
                </a:solidFill>
              </a:rPr>
              <a:t>/ — </a:t>
            </a:r>
            <a:r>
              <a:rPr sz="1400" b="0" i="1" dirty="0" err="1">
                <a:solidFill>
                  <a:srgbClr val="6B7280"/>
                </a:solidFill>
              </a:rPr>
              <a:t>css</a:t>
            </a:r>
            <a:r>
              <a:rPr sz="1400" b="0" i="1" dirty="0">
                <a:solidFill>
                  <a:srgbClr val="6B7280"/>
                </a:solidFill>
              </a:rPr>
              <a:t>, </a:t>
            </a:r>
            <a:r>
              <a:rPr sz="1400" b="0" i="1" dirty="0" err="1">
                <a:solidFill>
                  <a:srgbClr val="6B7280"/>
                </a:solidFill>
              </a:rPr>
              <a:t>js</a:t>
            </a:r>
            <a:r>
              <a:rPr sz="1400" b="0" i="1" dirty="0">
                <a:solidFill>
                  <a:srgbClr val="6B7280"/>
                </a:solidFill>
              </a:rPr>
              <a:t>, template, info, </a:t>
            </a:r>
            <a:r>
              <a:rPr sz="1400" b="0" i="1" dirty="0" err="1">
                <a:solidFill>
                  <a:srgbClr val="6B7280"/>
                </a:solidFill>
              </a:rPr>
              <a:t>template.php</a:t>
            </a:r>
            <a:endParaRPr sz="1400" b="0" i="1" dirty="0">
              <a:solidFill>
                <a:srgbClr val="6B7280"/>
              </a:solidFill>
            </a:endParaRPr>
          </a:p>
        </p:txBody>
      </p:sp>
      <p:pic>
        <p:nvPicPr>
          <p:cNvPr id="6" name="Picture 5" descr="pptx_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4389120" cy="57835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20639" y="1463039"/>
            <a:ext cx="129154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Template file roles: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39" y="1874518"/>
            <a:ext cx="12915411" cy="2102949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5257799" y="1925318"/>
            <a:ext cx="37052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4ED8"/>
                </a:solidFill>
              </a:rPr>
              <a:t>dynamic_form.info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925318"/>
            <a:ext cx="89984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Declares theme name, core=7.x, regions; no dependencies needed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39" y="2304286"/>
            <a:ext cx="12915411" cy="227878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5257799" y="2355086"/>
            <a:ext cx="37052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4ED8"/>
                </a:solidFill>
              </a:rPr>
              <a:t>template.php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355086"/>
            <a:ext cx="89984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Implements template_preprocess_*() hooks — injects PHP vars into tpl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39" y="2734055"/>
            <a:ext cx="12915411" cy="11795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5257799" y="2784854"/>
            <a:ext cx="37052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4ED8"/>
                </a:solidFill>
              </a:rPr>
              <a:t>template/page.tpl.php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4854"/>
            <a:ext cx="89984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Full HTML shell: &lt;head&gt;, navigation bar, &lt;main&gt;, footer rendered here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39" y="3163823"/>
            <a:ext cx="12915411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5257799" y="3214622"/>
            <a:ext cx="37052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4ED8"/>
                </a:solidFill>
              </a:rPr>
              <a:t>template/dashboard.tpl.php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14622"/>
            <a:ext cx="89984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Renders $sidebar and $content — used by hook_theme() registration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39" y="3593590"/>
            <a:ext cx="12915411" cy="383877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5257799" y="3644390"/>
            <a:ext cx="37052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4ED8"/>
                </a:solidFill>
              </a:rPr>
              <a:t>css/style.css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644390"/>
            <a:ext cx="89984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All theme CSS — dashboard layout, form cards, builder UI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39" y="4023358"/>
            <a:ext cx="12915411" cy="55971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5257799" y="4074158"/>
            <a:ext cx="37052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4ED8"/>
                </a:solidFill>
              </a:rPr>
              <a:t>js/main.js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074158"/>
            <a:ext cx="89984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A1A2E"/>
                </a:solidFill>
              </a:rPr>
              <a:t>Theme-level JS — nav toggle, responsive </a:t>
            </a:r>
            <a:r>
              <a:rPr sz="2000" b="0" i="0" dirty="0" err="1">
                <a:solidFill>
                  <a:srgbClr val="1A1A2E"/>
                </a:solidFill>
              </a:rPr>
              <a:t>behaviour</a:t>
            </a:r>
            <a:endParaRPr sz="2000" b="0" i="0" dirty="0">
              <a:solidFill>
                <a:srgbClr val="1A1A2E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122708" y="7517984"/>
            <a:ext cx="12773660" cy="10332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9" name="TextBox 28"/>
          <p:cNvSpPr txBox="1"/>
          <p:nvPr/>
        </p:nvSpPr>
        <p:spPr>
          <a:xfrm>
            <a:off x="5209068" y="7581484"/>
            <a:ext cx="126217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A1A2E"/>
                </a:solidFill>
              </a:rPr>
              <a:t>  Drupal 7 looks for </a:t>
            </a:r>
            <a:r>
              <a:rPr sz="2000" b="0" i="0" dirty="0" err="1">
                <a:solidFill>
                  <a:srgbClr val="1A1A2E"/>
                </a:solidFill>
              </a:rPr>
              <a:t>page.tpl.php</a:t>
            </a:r>
            <a:r>
              <a:rPr sz="2000" b="0" i="0" dirty="0">
                <a:solidFill>
                  <a:srgbClr val="1A1A2E"/>
                </a:solidFill>
              </a:rPr>
              <a:t> in the active theme. Because </a:t>
            </a:r>
            <a:r>
              <a:rPr sz="2000" b="0" i="0" dirty="0" err="1">
                <a:solidFill>
                  <a:srgbClr val="1A1A2E"/>
                </a:solidFill>
              </a:rPr>
              <a:t>dynamic_form</a:t>
            </a:r>
            <a:r>
              <a:rPr sz="2000" b="0" i="0" dirty="0">
                <a:solidFill>
                  <a:srgbClr val="1A1A2E"/>
                </a:solidFill>
              </a:rPr>
              <a:t> is set as </a:t>
            </a:r>
            <a:r>
              <a:rPr sz="2000" b="0" i="0" dirty="0" err="1">
                <a:solidFill>
                  <a:srgbClr val="1A1A2E"/>
                </a:solidFill>
              </a:rPr>
              <a:t>theme_default</a:t>
            </a:r>
            <a:r>
              <a:rPr sz="2000" b="0" i="0" dirty="0">
                <a:solidFill>
                  <a:srgbClr val="1A1A2E"/>
                </a:solidFill>
              </a:rPr>
              <a:t>, Drupal uses our </a:t>
            </a:r>
            <a:r>
              <a:rPr sz="2000" b="0" i="0" dirty="0" err="1">
                <a:solidFill>
                  <a:srgbClr val="1A1A2E"/>
                </a:solidFill>
              </a:rPr>
              <a:t>page.tpl.php</a:t>
            </a:r>
            <a:r>
              <a:rPr sz="2000" b="0" i="0" dirty="0">
                <a:solidFill>
                  <a:srgbClr val="1A1A2E"/>
                </a:solidFill>
              </a:rPr>
              <a:t> instead of </a:t>
            </a:r>
            <a:r>
              <a:rPr sz="2000" b="0" i="0" dirty="0" err="1">
                <a:solidFill>
                  <a:srgbClr val="1A1A2E"/>
                </a:solidFill>
              </a:rPr>
              <a:t>Bartik's</a:t>
            </a:r>
            <a:r>
              <a:rPr sz="2000" b="0" i="0" dirty="0">
                <a:solidFill>
                  <a:srgbClr val="1A1A2E"/>
                </a:solidFill>
              </a:rPr>
              <a:t> — giving us full control over every HTML element on every page. </a:t>
            </a:r>
            <a:r>
              <a:rPr sz="2000" b="0" i="0" dirty="0" err="1">
                <a:solidFill>
                  <a:srgbClr val="1A1A2E"/>
                </a:solidFill>
              </a:rPr>
              <a:t>dashboard.tpl.php</a:t>
            </a:r>
            <a:r>
              <a:rPr sz="2000" b="0" i="0" dirty="0">
                <a:solidFill>
                  <a:srgbClr val="1A1A2E"/>
                </a:solidFill>
              </a:rPr>
              <a:t> is only invoked for routes that call theme('</a:t>
            </a:r>
            <a:r>
              <a:rPr sz="2000" b="0" i="0" dirty="0" err="1">
                <a:solidFill>
                  <a:srgbClr val="1A1A2E"/>
                </a:solidFill>
              </a:rPr>
              <a:t>dynamic_form_dashboard</a:t>
            </a:r>
            <a:r>
              <a:rPr sz="2000" b="0" i="0" dirty="0">
                <a:solidFill>
                  <a:srgbClr val="1A1A2E"/>
                </a:solidFill>
              </a:rPr>
              <a:t>', …) registered in </a:t>
            </a:r>
            <a:r>
              <a:rPr sz="2000" b="0" i="0" dirty="0" err="1">
                <a:solidFill>
                  <a:srgbClr val="1A1A2E"/>
                </a:solidFill>
              </a:rPr>
              <a:t>hook_theme</a:t>
            </a:r>
            <a:r>
              <a:rPr sz="2000" b="0" i="0" dirty="0">
                <a:solidFill>
                  <a:srgbClr val="1A1A2E"/>
                </a:solidFill>
              </a:rPr>
              <a:t>().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0" y="9902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3453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38912"/>
            <a:ext cx="17373600" cy="25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Dynamic Form Module — Structure &amp; 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463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</a:rPr>
              <a:t>sites/all/modules/dynamic_form/ — split across .info, .install, .module, includes/, js/, css/</a:t>
            </a:r>
          </a:p>
        </p:txBody>
      </p:sp>
      <p:pic>
        <p:nvPicPr>
          <p:cNvPr id="6" name="Picture 5" descr="pptx_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475488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1463039"/>
            <a:ext cx="1234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Module file responsibilities: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1925318"/>
            <a:ext cx="33476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dynamic_form.info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5318"/>
            <a:ext cx="87875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Module metadata — name, description, core=7.x, dependencies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355086"/>
            <a:ext cx="33476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dynamic_form.install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355086"/>
            <a:ext cx="87875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1A1A2E"/>
                </a:solidFill>
              </a:rPr>
              <a:t>hook_schema</a:t>
            </a:r>
            <a:r>
              <a:rPr sz="1600" b="0" i="0" dirty="0">
                <a:solidFill>
                  <a:srgbClr val="1A1A2E"/>
                </a:solidFill>
              </a:rPr>
              <a:t>(): all 14 table definitions; </a:t>
            </a:r>
            <a:r>
              <a:rPr sz="1600" b="0" i="0" dirty="0" err="1">
                <a:solidFill>
                  <a:srgbClr val="1A1A2E"/>
                </a:solidFill>
              </a:rPr>
              <a:t>hook_enable</a:t>
            </a:r>
            <a:r>
              <a:rPr sz="1600" b="0" i="0" dirty="0">
                <a:solidFill>
                  <a:srgbClr val="1A1A2E"/>
                </a:solidFill>
              </a:rPr>
              <a:t>/disable/uninstall; update hooks 7001-7003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2784854"/>
            <a:ext cx="33476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dynamic_form.module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84855"/>
            <a:ext cx="9601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1A1A2E"/>
                </a:solidFill>
              </a:rPr>
              <a:t>All hooks: </a:t>
            </a:r>
            <a:r>
              <a:rPr sz="1600" b="0" i="0" dirty="0" err="1">
                <a:solidFill>
                  <a:srgbClr val="1A1A2E"/>
                </a:solidFill>
              </a:rPr>
              <a:t>hook_init</a:t>
            </a:r>
            <a:r>
              <a:rPr sz="1600" b="0" i="0" dirty="0">
                <a:solidFill>
                  <a:srgbClr val="1A1A2E"/>
                </a:solidFill>
              </a:rPr>
              <a:t>, </a:t>
            </a:r>
            <a:r>
              <a:rPr sz="1600" b="0" i="0" dirty="0" err="1">
                <a:solidFill>
                  <a:srgbClr val="1A1A2E"/>
                </a:solidFill>
              </a:rPr>
              <a:t>hook_permission</a:t>
            </a:r>
            <a:r>
              <a:rPr sz="1600" b="0" i="0" dirty="0">
                <a:solidFill>
                  <a:srgbClr val="1A1A2E"/>
                </a:solidFill>
              </a:rPr>
              <a:t>, </a:t>
            </a:r>
            <a:r>
              <a:rPr sz="1600" b="0" i="0" dirty="0" err="1">
                <a:solidFill>
                  <a:srgbClr val="1A1A2E"/>
                </a:solidFill>
              </a:rPr>
              <a:t>hook_menu</a:t>
            </a:r>
            <a:r>
              <a:rPr sz="1600" b="0" i="0" dirty="0">
                <a:solidFill>
                  <a:srgbClr val="1A1A2E"/>
                </a:solidFill>
              </a:rPr>
              <a:t>, </a:t>
            </a:r>
            <a:r>
              <a:rPr sz="1600" b="0" i="0" dirty="0" err="1">
                <a:solidFill>
                  <a:srgbClr val="1A1A2E"/>
                </a:solidFill>
              </a:rPr>
              <a:t>hook_theme</a:t>
            </a:r>
            <a:r>
              <a:rPr sz="1600" b="0" i="0" dirty="0">
                <a:solidFill>
                  <a:srgbClr val="1A1A2E"/>
                </a:solidFill>
              </a:rPr>
              <a:t>, </a:t>
            </a:r>
            <a:r>
              <a:rPr sz="1600" b="0" i="0" dirty="0" err="1">
                <a:solidFill>
                  <a:srgbClr val="1A1A2E"/>
                </a:solidFill>
              </a:rPr>
              <a:t>hook_cron</a:t>
            </a:r>
            <a:r>
              <a:rPr sz="1600" b="0" i="0" dirty="0">
                <a:solidFill>
                  <a:srgbClr val="1A1A2E"/>
                </a:solidFill>
              </a:rPr>
              <a:t>, </a:t>
            </a:r>
            <a:r>
              <a:rPr sz="1600" b="0" i="0" dirty="0" err="1">
                <a:solidFill>
                  <a:srgbClr val="1A1A2E"/>
                </a:solidFill>
              </a:rPr>
              <a:t>hook_mail</a:t>
            </a:r>
            <a:r>
              <a:rPr sz="1600" b="0" i="0" dirty="0">
                <a:solidFill>
                  <a:srgbClr val="1A1A2E"/>
                </a:solidFill>
              </a:rPr>
              <a:t>, </a:t>
            </a:r>
            <a:r>
              <a:rPr sz="1600" b="0" i="0" dirty="0" err="1">
                <a:solidFill>
                  <a:srgbClr val="1A1A2E"/>
                </a:solidFill>
              </a:rPr>
              <a:t>hook_form_alter</a:t>
            </a:r>
            <a:endParaRPr sz="1600" b="0" i="0" dirty="0">
              <a:solidFill>
                <a:srgbClr val="1A1A2E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23560" y="3214622"/>
            <a:ext cx="33476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includes/*.inc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214622"/>
            <a:ext cx="978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1A1A2E"/>
                </a:solidFill>
              </a:rPr>
              <a:t>Domain logic loaded on demand via 'file' key in </a:t>
            </a:r>
            <a:r>
              <a:rPr sz="1600" b="0" i="0" dirty="0" err="1">
                <a:solidFill>
                  <a:srgbClr val="1A1A2E"/>
                </a:solidFill>
              </a:rPr>
              <a:t>hook_menu</a:t>
            </a:r>
            <a:r>
              <a:rPr sz="1600" b="0" i="0" dirty="0">
                <a:solidFill>
                  <a:srgbClr val="1A1A2E"/>
                </a:solidFill>
              </a:rPr>
              <a:t>() — not always in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3644390"/>
            <a:ext cx="33476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js/*.js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644390"/>
            <a:ext cx="87875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builder.js, members.js, invitations.js, dashboard-search.js, dashboard-delete.js, toast.js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4074158"/>
            <a:ext cx="33476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css/*.css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074158"/>
            <a:ext cx="87875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1A1A2E"/>
                </a:solidFill>
              </a:rPr>
              <a:t>builder.css</a:t>
            </a:r>
            <a:r>
              <a:rPr sz="1600" b="0" i="0" dirty="0">
                <a:solidFill>
                  <a:srgbClr val="1A1A2E"/>
                </a:solidFill>
              </a:rPr>
              <a:t>, </a:t>
            </a:r>
            <a:r>
              <a:rPr sz="1600" b="0" i="0" dirty="0" err="1">
                <a:solidFill>
                  <a:srgbClr val="1A1A2E"/>
                </a:solidFill>
              </a:rPr>
              <a:t>preview.css</a:t>
            </a:r>
            <a:r>
              <a:rPr sz="1600" b="0" i="0" dirty="0">
                <a:solidFill>
                  <a:srgbClr val="1A1A2E"/>
                </a:solidFill>
              </a:rPr>
              <a:t>, </a:t>
            </a:r>
            <a:r>
              <a:rPr sz="1600" b="0" i="0" dirty="0" err="1">
                <a:solidFill>
                  <a:srgbClr val="1A1A2E"/>
                </a:solidFill>
              </a:rPr>
              <a:t>toast.css</a:t>
            </a:r>
            <a:r>
              <a:rPr sz="1600" b="0" i="0" dirty="0">
                <a:solidFill>
                  <a:srgbClr val="1A1A2E"/>
                </a:solidFill>
              </a:rPr>
              <a:t>, </a:t>
            </a:r>
            <a:r>
              <a:rPr sz="1600" b="0" i="0" dirty="0" err="1">
                <a:solidFill>
                  <a:srgbClr val="1A1A2E"/>
                </a:solidFill>
              </a:rPr>
              <a:t>members.css</a:t>
            </a:r>
            <a:endParaRPr sz="1600" b="0" i="0" dirty="0">
              <a:solidFill>
                <a:srgbClr val="1A1A2E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20754" y="5713317"/>
            <a:ext cx="58464" cy="12042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Rectangle 26"/>
          <p:cNvSpPr/>
          <p:nvPr/>
        </p:nvSpPr>
        <p:spPr>
          <a:xfrm>
            <a:off x="5471554" y="5713317"/>
            <a:ext cx="12359246" cy="12042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5557914" y="5776817"/>
            <a:ext cx="12207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D4ED8"/>
                </a:solidFill>
              </a:rPr>
              <a:t>The 'file' key in </a:t>
            </a:r>
            <a:r>
              <a:rPr sz="2000" b="0" i="0" dirty="0" err="1">
                <a:solidFill>
                  <a:srgbClr val="1D4ED8"/>
                </a:solidFill>
              </a:rPr>
              <a:t>hook_menu</a:t>
            </a:r>
            <a:r>
              <a:rPr sz="2000" b="0" i="0" dirty="0">
                <a:solidFill>
                  <a:srgbClr val="1D4ED8"/>
                </a:solidFill>
              </a:rPr>
              <a:t>() means includes/*.</a:t>
            </a:r>
            <a:r>
              <a:rPr sz="2000" b="0" i="0" dirty="0" err="1">
                <a:solidFill>
                  <a:srgbClr val="1D4ED8"/>
                </a:solidFill>
              </a:rPr>
              <a:t>inc</a:t>
            </a:r>
            <a:r>
              <a:rPr sz="2000" b="0" i="0" dirty="0">
                <a:solidFill>
                  <a:srgbClr val="1D4ED8"/>
                </a:solidFill>
              </a:rPr>
              <a:t> files are loaded only when their route is visited — keeping memory footprint low. The module file itself always loads; it only contains hooks and helpers.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0" y="9902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38912"/>
            <a:ext cx="17373600" cy="25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Custom Hooks —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463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</a:rPr>
              <a:t>hook_init · hook_permission · hook_theme · hook_form_alter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48403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4ED8"/>
                </a:solidFill>
              </a:rPr>
              <a:t>hook_init()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10511"/>
            <a:ext cx="8076924" cy="3630167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621793" y="1920240"/>
            <a:ext cx="797356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1E40AF"/>
                </a:solidFill>
                <a:latin typeface="Courier New"/>
              </a:rPr>
              <a:t>{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  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drupal_add_css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($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module_path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 . '/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css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/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toast.css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');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 </a:t>
            </a:r>
            <a:r>
              <a:rPr lang="en-US" sz="2000" dirty="0">
                <a:solidFill>
                  <a:srgbClr val="1E40AF"/>
                </a:solidFill>
                <a:latin typeface="Courier New"/>
              </a:rPr>
              <a:t> 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drupal_add_js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($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module_path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 . '/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js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/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toast.js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');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5698891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1D4ED8"/>
                </a:solidFill>
              </a:rPr>
              <a:t>hook_permission</a:t>
            </a:r>
            <a:r>
              <a:rPr sz="2000" b="1" i="0" dirty="0">
                <a:solidFill>
                  <a:srgbClr val="1D4ED8"/>
                </a:solidFill>
              </a:rPr>
              <a:t>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6082938"/>
            <a:ext cx="777240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758952" y="6133738"/>
            <a:ext cx="7498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▸  access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6421266"/>
            <a:ext cx="7772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758952" y="6472066"/>
            <a:ext cx="7498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▸  view forms  /  create new 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6759594"/>
            <a:ext cx="777240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758952" y="6810394"/>
            <a:ext cx="7498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▸  edit own form  /  edit any form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7097922"/>
            <a:ext cx="7772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758952" y="7148722"/>
            <a:ext cx="7498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▸  delete own form  /  delete any 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7436250"/>
            <a:ext cx="777240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758952" y="7487050"/>
            <a:ext cx="7498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▸  view soft delete  /  restore deleted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7774578"/>
            <a:ext cx="7772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758952" y="7825378"/>
            <a:ext cx="7498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▸  view activity 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1417319"/>
            <a:ext cx="80769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4ED8"/>
                </a:solidFill>
              </a:rPr>
              <a:t>hook_theme()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1810511"/>
            <a:ext cx="8076924" cy="36301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8759952" y="1920240"/>
            <a:ext cx="807692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1E40AF"/>
                </a:solidFill>
                <a:latin typeface="Courier New"/>
              </a:rPr>
              <a:t>return array(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  '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dynamic_form_dashboard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' =&gt; array(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    'variables' =&gt; array('sidebar' =&gt; '', 'content' =&gt; ''),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    'template'  =&gt; 'dashboard',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    // Points to themes/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dynamic_form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/template/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dashboard.tpl.php</a:t>
            </a:r>
            <a:endParaRPr sz="2000" dirty="0">
              <a:solidFill>
                <a:srgbClr val="1E40AF"/>
              </a:solidFill>
              <a:latin typeface="Courier New"/>
            </a:endParaRP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    'path' =&gt; 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drupal_get_path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('theme', '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dynamic_form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') . '/template',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  ),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);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5733628"/>
            <a:ext cx="80769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4ED8"/>
                </a:solidFill>
              </a:rPr>
              <a:t>hook_form_alter()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0" y="6117676"/>
            <a:ext cx="8076924" cy="306571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8759951" y="6227404"/>
            <a:ext cx="773484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1E40AF"/>
                </a:solidFill>
                <a:latin typeface="Courier New"/>
              </a:rPr>
              <a:t>// Overrides Drupal's generic "Sorry, unrecognized username or password"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// error message on login forms with a more user-friendly message.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if ($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form_id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 == '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user_login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' || $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form_id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 == '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user_login_block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') {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  $form['#validate'][] = '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dynamic_form_custom_login_error_override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';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0" y="9902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71547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38912"/>
            <a:ext cx="17373600" cy="25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Custom Hooks — 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463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</a:rPr>
              <a:t>hook_menu · hook_cron · hook_mail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7863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1D4ED8"/>
                </a:solidFill>
              </a:rPr>
              <a:t>hook_menu</a:t>
            </a:r>
            <a:r>
              <a:rPr sz="2000" b="1" i="0" dirty="0">
                <a:solidFill>
                  <a:srgbClr val="1D4ED8"/>
                </a:solidFill>
              </a:rPr>
              <a:t>()  — 30+ routes across 5 groups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61312"/>
            <a:ext cx="3200400" cy="700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300000"/>
              </a:lnSpc>
            </a:pPr>
            <a:r>
              <a:rPr sz="1600" b="1" i="0" dirty="0">
                <a:solidFill>
                  <a:srgbClr val="1D4ED8"/>
                </a:solidFill>
              </a:rPr>
              <a:t>/login, /register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1861312"/>
            <a:ext cx="4480560" cy="700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300000"/>
              </a:lnSpc>
            </a:pPr>
            <a:r>
              <a:rPr sz="1600" b="0" i="0" dirty="0">
                <a:solidFill>
                  <a:srgbClr val="1A1A2E"/>
                </a:solidFill>
              </a:rPr>
              <a:t>access callback: </a:t>
            </a:r>
            <a:r>
              <a:rPr sz="1600" b="0" i="0" dirty="0" err="1">
                <a:solidFill>
                  <a:srgbClr val="1A1A2E"/>
                </a:solidFill>
              </a:rPr>
              <a:t>user_is_anonymous</a:t>
            </a:r>
            <a:endParaRPr sz="1600" b="0" i="0" dirty="0">
              <a:solidFill>
                <a:srgbClr val="1A1A2E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2263648"/>
            <a:ext cx="3200400" cy="700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300000"/>
              </a:lnSpc>
            </a:pPr>
            <a:r>
              <a:rPr sz="1600" b="1" i="0" dirty="0">
                <a:solidFill>
                  <a:srgbClr val="1D4ED8"/>
                </a:solidFill>
              </a:rPr>
              <a:t>/form/create, /form/%/edit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263648"/>
            <a:ext cx="5394960" cy="700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300000"/>
              </a:lnSpc>
            </a:pPr>
            <a:r>
              <a:rPr sz="1600" b="0" i="0" dirty="0">
                <a:solidFill>
                  <a:srgbClr val="1A1A2E"/>
                </a:solidFill>
              </a:rPr>
              <a:t>custom access callback—ownership + member role</a:t>
            </a:r>
            <a:r>
              <a:rPr lang="en-US" sz="1600" b="0" i="0" dirty="0">
                <a:solidFill>
                  <a:srgbClr val="1A1A2E"/>
                </a:solidFill>
              </a:rPr>
              <a:t> </a:t>
            </a:r>
            <a:r>
              <a:rPr sz="1600" b="0" i="0" dirty="0">
                <a:solidFill>
                  <a:srgbClr val="1A1A2E"/>
                </a:solidFill>
              </a:rPr>
              <a:t>che</a:t>
            </a:r>
            <a:r>
              <a:rPr lang="en-US" sz="1600" b="0" i="0" dirty="0">
                <a:solidFill>
                  <a:srgbClr val="1A1A2E"/>
                </a:solidFill>
              </a:rPr>
              <a:t>ck</a:t>
            </a:r>
            <a:endParaRPr sz="1600" b="0" i="0" dirty="0">
              <a:solidFill>
                <a:srgbClr val="1A1A2E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2665984"/>
            <a:ext cx="3200400" cy="700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300000"/>
              </a:lnSpc>
            </a:pPr>
            <a:r>
              <a:rPr sz="1600" b="1" i="0">
                <a:solidFill>
                  <a:srgbClr val="1D4ED8"/>
                </a:solidFill>
              </a:rPr>
              <a:t>/dashboard/**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665984"/>
            <a:ext cx="4572000" cy="700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300000"/>
              </a:lnSpc>
            </a:pPr>
            <a:r>
              <a:rPr sz="1600" b="0" i="0" dirty="0">
                <a:solidFill>
                  <a:srgbClr val="1A1A2E"/>
                </a:solidFill>
              </a:rPr>
              <a:t>access callback: </a:t>
            </a:r>
            <a:r>
              <a:rPr sz="1600" b="0" i="0" dirty="0" err="1">
                <a:solidFill>
                  <a:srgbClr val="1A1A2E"/>
                </a:solidFill>
              </a:rPr>
              <a:t>user_is_logged_in</a:t>
            </a:r>
            <a:endParaRPr sz="1600" b="0" i="0" dirty="0">
              <a:solidFill>
                <a:srgbClr val="1A1A2E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360" y="3068320"/>
            <a:ext cx="3200400" cy="700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300000"/>
              </a:lnSpc>
            </a:pPr>
            <a:r>
              <a:rPr sz="1600" b="1" i="0">
                <a:solidFill>
                  <a:srgbClr val="1D4ED8"/>
                </a:solidFill>
              </a:rPr>
              <a:t>/dashboard/forms/%/builder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3068320"/>
            <a:ext cx="7091680" cy="700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300000"/>
              </a:lnSpc>
            </a:pPr>
            <a:r>
              <a:rPr sz="1600" b="0" i="0" dirty="0">
                <a:solidFill>
                  <a:srgbClr val="1A1A2E"/>
                </a:solidFill>
              </a:rPr>
              <a:t>_</a:t>
            </a:r>
            <a:r>
              <a:rPr sz="1600" b="0" i="0" dirty="0" err="1">
                <a:solidFill>
                  <a:srgbClr val="1A1A2E"/>
                </a:solidFill>
              </a:rPr>
              <a:t>dynamic_form_edit_access</a:t>
            </a:r>
            <a:r>
              <a:rPr sz="1600" b="0" i="0" dirty="0">
                <a:solidFill>
                  <a:srgbClr val="1A1A2E"/>
                </a:solidFill>
              </a:rPr>
              <a:t>() — 3-layer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470656"/>
            <a:ext cx="3200400" cy="700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300000"/>
              </a:lnSpc>
            </a:pPr>
            <a:r>
              <a:rPr sz="1600" b="1" i="0" dirty="0">
                <a:solidFill>
                  <a:srgbClr val="1D4ED8"/>
                </a:solidFill>
              </a:rPr>
              <a:t>/dynamic-form/ajax/**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3470656"/>
            <a:ext cx="4480560" cy="14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300000"/>
              </a:lnSpc>
            </a:pPr>
            <a:r>
              <a:rPr sz="1600" b="0" i="0" dirty="0">
                <a:solidFill>
                  <a:srgbClr val="1A1A2E"/>
                </a:solidFill>
              </a:rPr>
              <a:t>AJAX endpoints — return JSON commands, no HTML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872992"/>
            <a:ext cx="3200400" cy="700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300000"/>
              </a:lnSpc>
            </a:pPr>
            <a:r>
              <a:rPr lang="en-US" sz="1600" b="1" i="0" dirty="0">
                <a:solidFill>
                  <a:srgbClr val="1D4ED8"/>
                </a:solidFill>
              </a:rPr>
              <a:t>/dynamic-form/invite/accept/%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3872992"/>
            <a:ext cx="4480560" cy="700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300000"/>
              </a:lnSpc>
            </a:pPr>
            <a:r>
              <a:rPr sz="1600" b="0" i="0" dirty="0">
                <a:solidFill>
                  <a:srgbClr val="1A1A2E"/>
                </a:solidFill>
              </a:rPr>
              <a:t>access callback: TRUE — token is the secret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889554"/>
            <a:ext cx="45720" cy="96729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62280" y="7889554"/>
            <a:ext cx="7813040" cy="967296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7953054"/>
            <a:ext cx="76809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D4ED8"/>
                </a:solidFill>
              </a:rPr>
              <a:t>'file' key on each route means the .</a:t>
            </a:r>
            <a:r>
              <a:rPr sz="2000" b="0" i="0" dirty="0" err="1">
                <a:solidFill>
                  <a:srgbClr val="1D4ED8"/>
                </a:solidFill>
              </a:rPr>
              <a:t>inc</a:t>
            </a:r>
            <a:r>
              <a:rPr sz="2000" b="0" i="0" dirty="0">
                <a:solidFill>
                  <a:srgbClr val="1D4ED8"/>
                </a:solidFill>
              </a:rPr>
              <a:t> is only loaded when that path is visited.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1417320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1D4ED8"/>
                </a:solidFill>
              </a:rPr>
              <a:t>hook_cron</a:t>
            </a:r>
            <a:r>
              <a:rPr sz="2000" b="1" i="0" dirty="0">
                <a:solidFill>
                  <a:srgbClr val="1D4ED8"/>
                </a:solidFill>
              </a:rPr>
              <a:t>()  — email queue processing + invitation expiry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1810512"/>
            <a:ext cx="7772400" cy="567878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59952" y="1920240"/>
            <a:ext cx="7571303" cy="56323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>
                <a:solidFill>
                  <a:srgbClr val="1E40AF"/>
                </a:solidFill>
                <a:latin typeface="Courier New"/>
              </a:rPr>
              <a:t>function 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dynamic_form_cron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() {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  // Process invitation emails (batch of 20)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  _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dynamic_form_process_queue_batch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(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    '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dynamic_form_invite_notify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',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    '_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dynamic_form_send_invite_notification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', 20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  );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  // Process member-added emails (batch of 20)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  _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dynamic_form_process_queue_batch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(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    '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dynamic_form_member_notify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',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    '_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dynamic_form_send_member_notification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', 20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  );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  // Expire stale pending invitations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  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db_update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('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dynamic_form_invitations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')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    -&gt;fields(array('status' =&gt; 'expired'))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    -&gt;condition('status', 'pending')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    -&gt;condition('</a:t>
            </a:r>
            <a:r>
              <a:rPr sz="2000" dirty="0" err="1">
                <a:solidFill>
                  <a:srgbClr val="1E40AF"/>
                </a:solidFill>
                <a:latin typeface="Courier New"/>
              </a:rPr>
              <a:t>expires_at</a:t>
            </a:r>
            <a:r>
              <a:rPr sz="2000" dirty="0">
                <a:solidFill>
                  <a:srgbClr val="1E40AF"/>
                </a:solidFill>
                <a:latin typeface="Courier New"/>
              </a:rPr>
              <a:t>', REQUEST_TIME, '&lt;')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    -&gt;execute();</a:t>
            </a:r>
          </a:p>
          <a:p>
            <a:r>
              <a:rPr sz="2000" dirty="0">
                <a:solidFill>
                  <a:srgbClr val="1E40AF"/>
                </a:solidFill>
                <a:latin typeface="Courier New"/>
              </a:rPr>
              <a:t>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7493181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4ED8"/>
                </a:solidFill>
              </a:rPr>
              <a:t>hook_mail()  — two email templates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95360" y="7877229"/>
            <a:ext cx="7772400" cy="4297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3" name="TextBox 32"/>
          <p:cNvSpPr txBox="1"/>
          <p:nvPr/>
        </p:nvSpPr>
        <p:spPr>
          <a:xfrm>
            <a:off x="8732520" y="7928029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4ED8"/>
                </a:solidFill>
              </a:rPr>
              <a:t>'member_added'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7928029"/>
            <a:ext cx="5029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A1A2E"/>
                </a:solidFill>
              </a:rPr>
              <a:t>Notifies registered user they were added to a form with their role + URL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95360" y="8306997"/>
            <a:ext cx="7772400" cy="13050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6" name="TextBox 35"/>
          <p:cNvSpPr txBox="1"/>
          <p:nvPr/>
        </p:nvSpPr>
        <p:spPr>
          <a:xfrm>
            <a:off x="8732519" y="8357796"/>
            <a:ext cx="2639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4ED8"/>
                </a:solidFill>
              </a:rPr>
              <a:t>'invitation_sent'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73968" y="8366760"/>
            <a:ext cx="51937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A1A2E"/>
                </a:solidFill>
              </a:rPr>
              <a:t>Sends token accept link to unregistered invitees; includes 7-day expiry notice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007840" y="9902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0677" y="438912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38912"/>
            <a:ext cx="17373600" cy="25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rgbClr val="1A1A2E"/>
                </a:solidFill>
              </a:rPr>
              <a:t>DFBToast</a:t>
            </a:r>
            <a:r>
              <a:rPr sz="2800" b="1" i="0" dirty="0">
                <a:solidFill>
                  <a:srgbClr val="1A1A2E"/>
                </a:solidFill>
              </a:rPr>
              <a:t> — Custom Notification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199" y="1417319"/>
            <a:ext cx="8040109" cy="85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300000"/>
              </a:lnSpc>
            </a:pPr>
            <a:r>
              <a:rPr sz="2000" b="1" i="0">
                <a:solidFill>
                  <a:srgbClr val="1A1A2E"/>
                </a:solidFill>
              </a:rPr>
              <a:t>Why custom-built?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61312"/>
            <a:ext cx="7759640" cy="850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300000"/>
              </a:lnSpc>
            </a:pPr>
            <a:r>
              <a:rPr sz="2000" b="0" i="0">
                <a:solidFill>
                  <a:srgbClr val="1A1A2E"/>
                </a:solidFill>
              </a:rPr>
              <a:t>▸  No third-party library — zero extra HTTP requests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63648"/>
            <a:ext cx="7759640" cy="850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300000"/>
              </a:lnSpc>
            </a:pPr>
            <a:r>
              <a:rPr sz="2000" b="0" i="0">
                <a:solidFill>
                  <a:srgbClr val="1A1A2E"/>
                </a:solidFill>
              </a:rPr>
              <a:t>▸  jQuery .bind() / .animate() / .slideDown() used throughout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65984"/>
            <a:ext cx="7759640" cy="850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300000"/>
              </a:lnSpc>
            </a:pPr>
            <a:r>
              <a:rPr sz="2000" b="0" i="0">
                <a:solidFill>
                  <a:srgbClr val="1A1A2E"/>
                </a:solidFill>
              </a:rPr>
              <a:t>▸  (.on() would work with jQuery 1.12.4 — kept .bind() for safety)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68320"/>
            <a:ext cx="7759640" cy="850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300000"/>
              </a:lnSpc>
            </a:pPr>
            <a:r>
              <a:rPr sz="2000" b="0" i="0">
                <a:solidFill>
                  <a:srgbClr val="1A1A2E"/>
                </a:solidFill>
              </a:rPr>
              <a:t>▸  Converts Drupal's div.messages into toasts on attach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0656"/>
            <a:ext cx="7759640" cy="850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300000"/>
              </a:lnSpc>
            </a:pPr>
            <a:r>
              <a:rPr sz="2000" b="0" i="0">
                <a:solidFill>
                  <a:srgbClr val="1A1A2E"/>
                </a:solidFill>
              </a:rPr>
              <a:t>▸  PHP callbacks fire toasts via custom AJAX command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95284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1A2E"/>
                </a:solidFill>
              </a:rPr>
              <a:t>Public JS API (</a:t>
            </a:r>
            <a:r>
              <a:rPr sz="1600" b="1" i="0" dirty="0" err="1">
                <a:solidFill>
                  <a:srgbClr val="1A1A2E"/>
                </a:solidFill>
              </a:rPr>
              <a:t>window.DFBToast</a:t>
            </a:r>
            <a:r>
              <a:rPr sz="1600" b="1" i="0" dirty="0">
                <a:solidFill>
                  <a:srgbClr val="1A1A2E"/>
                </a:solidFill>
              </a:rPr>
              <a:t>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971356"/>
            <a:ext cx="7896800" cy="252461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7081085"/>
            <a:ext cx="7096815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 err="1">
                <a:solidFill>
                  <a:srgbClr val="1E40AF"/>
                </a:solidFill>
                <a:latin typeface="Courier New"/>
              </a:rPr>
              <a:t>DFBToast.success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(msg [,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durationMs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])  // 4500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ms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 default</a:t>
            </a:r>
          </a:p>
          <a:p>
            <a:r>
              <a:rPr sz="1600" dirty="0" err="1">
                <a:solidFill>
                  <a:srgbClr val="1E40AF"/>
                </a:solidFill>
                <a:latin typeface="Courier New"/>
              </a:rPr>
              <a:t>DFBToast.error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(msg   [,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durationMs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])  // 7000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ms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 default</a:t>
            </a:r>
          </a:p>
          <a:p>
            <a:r>
              <a:rPr sz="1600" dirty="0" err="1">
                <a:solidFill>
                  <a:srgbClr val="1E40AF"/>
                </a:solidFill>
                <a:latin typeface="Courier New"/>
              </a:rPr>
              <a:t>DFBToast.warning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(msg [,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durationMs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])  // 5000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ms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 default</a:t>
            </a:r>
          </a:p>
          <a:p>
            <a:r>
              <a:rPr sz="1600" dirty="0" err="1">
                <a:solidFill>
                  <a:srgbClr val="1E40AF"/>
                </a:solidFill>
                <a:latin typeface="Courier New"/>
              </a:rPr>
              <a:t>DFBToast.info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(msg    [,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durationMs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])  // 4500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ms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 default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141732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PHP side — AJAX command: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59" y="1810512"/>
            <a:ext cx="9098281" cy="347100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59952" y="1920240"/>
            <a:ext cx="7713971" cy="32932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1E40AF"/>
                </a:solidFill>
                <a:latin typeface="Courier New"/>
              </a:rPr>
              <a:t>// Defined in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dynamic_form.module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: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function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ajax_command_dfb_toast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($type, $message) {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return array(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'command'    =&gt; 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dfbToast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toast_type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 =&gt; $type,  //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success|error|warning|info</a:t>
            </a:r>
            <a:endParaRPr sz="1600" dirty="0">
              <a:solidFill>
                <a:srgbClr val="1E40AF"/>
              </a:solidFill>
              <a:latin typeface="Courier New"/>
            </a:endParaRP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'message'    =&gt; $message,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);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}</a:t>
            </a:r>
          </a:p>
          <a:p>
            <a:endParaRPr sz="1600" dirty="0">
              <a:solidFill>
                <a:srgbClr val="1E40AF"/>
              </a:solidFill>
              <a:latin typeface="Courier New"/>
            </a:endParaRP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// Usage in any AJAX callback: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$commands[] =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ajax_command_dfb_toast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('success', t('Saved.'));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$commands[] =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ajax_command_replace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('#wrapper', $html);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return array('#type' =&gt; 'ajax', '#commands' =&gt; $commands);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539496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JS registration (toast.js, runs on DOM ready):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5788152"/>
            <a:ext cx="8778240" cy="38587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59952" y="5897880"/>
            <a:ext cx="8207696" cy="32932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1E40AF"/>
                </a:solidFill>
                <a:latin typeface="Courier New"/>
              </a:rPr>
              <a:t>// Extends Drupal's AJAX command protocol:</a:t>
            </a:r>
          </a:p>
          <a:p>
            <a:r>
              <a:rPr sz="1600" dirty="0" err="1">
                <a:solidFill>
                  <a:srgbClr val="1E40AF"/>
                </a:solidFill>
                <a:latin typeface="Courier New"/>
              </a:rPr>
              <a:t>Drupal.ajax.prototype.commands.dfbToast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 =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function (ajax, response) {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DFBToast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[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response.toast_type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](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response.message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);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};</a:t>
            </a:r>
          </a:p>
          <a:p>
            <a:endParaRPr sz="1600" dirty="0">
              <a:solidFill>
                <a:srgbClr val="1E40AF"/>
              </a:solidFill>
              <a:latin typeface="Courier New"/>
            </a:endParaRP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// Also intercepts Drupal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div.messages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 on attach:</a:t>
            </a:r>
          </a:p>
          <a:p>
            <a:r>
              <a:rPr sz="1600" dirty="0" err="1">
                <a:solidFill>
                  <a:srgbClr val="1E40AF"/>
                </a:solidFill>
                <a:latin typeface="Courier New"/>
              </a:rPr>
              <a:t>Drupal.behaviors.dfbToast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 = {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attach: function (context) {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$('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div.messages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', context).once('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dfb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-toast-convert',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function () { /* map .status/.error/.warning → toast */ });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}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};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07840" y="9902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55055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38912"/>
            <a:ext cx="17373600" cy="25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Soft Delete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Delete flow: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10511"/>
            <a:ext cx="7863840" cy="4686391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920240"/>
            <a:ext cx="7837402" cy="40318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1E40AF"/>
                </a:solidFill>
                <a:latin typeface="Courier New"/>
              </a:rPr>
              <a:t>User clicks Delete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→ JS opens #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dfb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-delete-confirm-modal  (dashboard-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delete.js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)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→ User confirms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→ $.ajax POST to /dynamic-form/ajax/delete/{type}/{id}</a:t>
            </a:r>
          </a:p>
          <a:p>
            <a:endParaRPr sz="1600" dirty="0">
              <a:solidFill>
                <a:srgbClr val="1E40AF"/>
              </a:solidFill>
              <a:latin typeface="Courier New"/>
            </a:endParaRP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PHP callback (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dynamic_form_ajax_entity_delete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):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→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db_update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(table)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 -&gt;fields(array(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     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deleted_at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 =&gt; REQUEST_TIME,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     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deleted_by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 =&gt; $user-&gt;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uid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   ))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 -&gt;condition('id', $id)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 -&gt;execute()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→ _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dynamic_form_audit_log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(type, id, 'deleted', $old, NULL)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→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ajax_command_remove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('#card-{id}')// removes card from DOM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→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ajax_command_dfb_toast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('success', 'Moved to Trash')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97261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i="0" dirty="0">
                <a:solidFill>
                  <a:srgbClr val="1A1A2E"/>
                </a:solidFill>
              </a:rPr>
              <a:t>All read queries filter:</a:t>
            </a:r>
            <a:endParaRPr sz="1600" b="1" i="0" dirty="0">
              <a:solidFill>
                <a:srgbClr val="1A1A2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4360" y="6981309"/>
            <a:ext cx="786384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7091037"/>
            <a:ext cx="536877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1E40AF"/>
                </a:solidFill>
                <a:latin typeface="Courier New"/>
              </a:rPr>
              <a:t>-&gt;condition('</a:t>
            </a:r>
            <a:r>
              <a:rPr lang="en-US" sz="1600" dirty="0" err="1">
                <a:solidFill>
                  <a:srgbClr val="1E40AF"/>
                </a:solidFill>
                <a:latin typeface="Courier New"/>
              </a:rPr>
              <a:t>deleted_at</a:t>
            </a:r>
            <a:r>
              <a:rPr lang="en-US" sz="1600" dirty="0">
                <a:solidFill>
                  <a:srgbClr val="1E40AF"/>
                </a:solidFill>
                <a:latin typeface="Courier New"/>
              </a:rPr>
              <a:t>', NULL, 'IS NULL')</a:t>
            </a:r>
            <a:endParaRPr sz="1600" dirty="0">
              <a:solidFill>
                <a:srgbClr val="1E40AF"/>
              </a:solidFill>
              <a:latin typeface="Courier New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95360" y="141732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1A2E"/>
                </a:solidFill>
              </a:rPr>
              <a:t>Restore flow: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59" y="1810512"/>
            <a:ext cx="8150711" cy="56406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59952" y="1920240"/>
            <a:ext cx="836562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1E40AF"/>
                </a:solidFill>
                <a:latin typeface="Courier New"/>
              </a:rPr>
              <a:t>User visits /dashboard/trash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→ Sees all rows where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deleted_at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 IS NOT NULL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→ Clicks Restore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→ JS opens restore confirmation modal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→ User confirms</a:t>
            </a:r>
          </a:p>
          <a:p>
            <a:endParaRPr sz="1600" dirty="0">
              <a:solidFill>
                <a:srgbClr val="1E40AF"/>
              </a:solidFill>
              <a:latin typeface="Courier New"/>
            </a:endParaRP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PHP callback (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dynamic_form_ajax_entity_restore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):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→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db_update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(table)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 -&gt;fields(array(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     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deleted_at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 =&gt; NULL,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     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deleted_by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 =&gt; NULL,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   ))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 -&gt;condition('id', $id)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 -&gt;execute()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→ _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dynamic_form_audit_log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(type, id, 'restored', $old, $new)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→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ajax_command_remove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('#trash-row-{id}')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→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ajax_command_dfb_toast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('success', 'Restored')</a:t>
            </a:r>
          </a:p>
          <a:p>
            <a:endParaRPr sz="1600" dirty="0">
              <a:solidFill>
                <a:srgbClr val="1E40AF"/>
              </a:solidFill>
              <a:latin typeface="Courier New"/>
            </a:endParaRP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Permanent delete: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→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db_delete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(table)-&gt;condition('id', $id)-&gt;execute()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→ Requires 'restore deleted' permission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78808" y="8617622"/>
            <a:ext cx="5080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29607" y="8617622"/>
            <a:ext cx="8557494" cy="5029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15968" y="8681122"/>
            <a:ext cx="8557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D97706"/>
                </a:solidFill>
              </a:rPr>
              <a:t>Permissions: 'view soft delete' to see Trash page; 'restore deleted' to restore or permanently delete.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07840" y="9902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38912"/>
            <a:ext cx="17373600" cy="25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Audit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463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</a:rPr>
              <a:t>Append-only table — full before/after JSON snapshots of every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581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_dynamic_form_audit_log() — called on every write: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10512"/>
            <a:ext cx="16079694" cy="46583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920240"/>
            <a:ext cx="15654528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1E40AF"/>
                </a:solidFill>
                <a:latin typeface="Courier New"/>
              </a:rPr>
              <a:t>_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dynamic_form_audit_log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($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entity_type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, $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entity_id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, $action, $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old_value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 = NULL, $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new_value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 = NULL)</a:t>
            </a:r>
          </a:p>
          <a:p>
            <a:endParaRPr sz="1600" dirty="0">
              <a:solidFill>
                <a:srgbClr val="1E40AF"/>
              </a:solidFill>
              <a:latin typeface="Courier New"/>
            </a:endParaRP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// Examples: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_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dynamic_form_audit_log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('form',     $id, 'created', NULL,    $fields);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_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dynamic_form_audit_log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('form',     $id, 'updated', $before, $fields);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_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dynamic_form_audit_log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('section',  $id, 'deleted', $before, NULL);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_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dynamic_form_audit_log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('question', $id, 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restored',$before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, $after);</a:t>
            </a:r>
          </a:p>
          <a:p>
            <a:endParaRPr sz="1600" dirty="0">
              <a:solidFill>
                <a:srgbClr val="1E40AF"/>
              </a:solidFill>
              <a:latin typeface="Courier New"/>
            </a:endParaRP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// Inside the function:</a:t>
            </a:r>
          </a:p>
          <a:p>
            <a:r>
              <a:rPr sz="1600" dirty="0" err="1">
                <a:solidFill>
                  <a:srgbClr val="1E40AF"/>
                </a:solidFill>
                <a:latin typeface="Courier New"/>
              </a:rPr>
              <a:t>db_insert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dynamic_form_audit_log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')-&gt;fields(array(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entity_type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 =&gt; $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entity_type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,  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entity_id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  =&gt; $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entity_id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'action'      =&gt; $action,       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actor_uid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  =&gt; $user-&gt;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uid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old_value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   =&gt;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json_encode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($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old_value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),    // NULL on 'created'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new_value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   =&gt;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json_encode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($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new_value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),    // NULL on 'deleted'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ip_address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  =&gt;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ip_address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(),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created_at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  =&gt; REQUEST_TIME,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))-&gt;execute();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16344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1A2E"/>
                </a:solidFill>
              </a:rPr>
              <a:t>Table design: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260336"/>
            <a:ext cx="237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D4ED8"/>
                </a:solidFill>
              </a:rPr>
              <a:t>Append-only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7260336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Schema comment: 'Rows must never be updated or deleted'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7662672"/>
            <a:ext cx="237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Entities covered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7662672"/>
            <a:ext cx="5303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form, section, question, option, validation, response, answer, member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8065008"/>
            <a:ext cx="237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Actions tracked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8065008"/>
            <a:ext cx="5303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1A1A2E"/>
                </a:solidFill>
              </a:rPr>
              <a:t>created, updated, deleted, restored, published, unpublished, submitted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8467344"/>
            <a:ext cx="237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Indexes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8467344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entity (type+id), actor_uid, action, created_at, entity_time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681634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Dashboard page: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7209536"/>
            <a:ext cx="50800" cy="10515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646160" y="7209536"/>
            <a:ext cx="7721600" cy="10515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32520" y="7273036"/>
            <a:ext cx="7589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059669"/>
                </a:solidFill>
              </a:rPr>
              <a:t>/dashboard/activity-log — requires 'view activity log' permission. Displays entity type, entity id, action, actor name, timestamp, and old/new JSON diff for every recorded change in reverse chronological order.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07840" y="9902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36778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38912"/>
            <a:ext cx="17373600" cy="25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includes/dynamic_form.forms.inc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463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</a:rPr>
              <a:t>Form CRUD — create, edit, list, delete + members picker + access callbacks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Key functions: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61312"/>
            <a:ext cx="3474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dynamic_form_create_form()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861312"/>
            <a:ext cx="4206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Drupal Form API: title, description, visibility, closes_at,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16343"/>
            <a:ext cx="3474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dynamic_form_edit_form()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516343"/>
            <a:ext cx="4206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Pre-populates same fields; loads existing members via AJAX picker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92658"/>
            <a:ext cx="3474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dynamic_form_create_form_submit()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092658"/>
            <a:ext cx="4206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1A1A2E"/>
                </a:solidFill>
              </a:rPr>
              <a:t>Generates slug, inserts to DB, saves members, logs audit, sends queue notifications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999068"/>
            <a:ext cx="3474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dynamic_form_list_page()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999068"/>
            <a:ext cx="4206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Lists forms the current user owns or is a member 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785011"/>
            <a:ext cx="3474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dynamic_form_delete_confirm()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785011"/>
            <a:ext cx="4206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Drupal confirm form — soft deletes on submit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570819"/>
            <a:ext cx="3474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_dynamic_form_members_picker_html()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5570819"/>
            <a:ext cx="4206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Renders the AJAX member search + invite HTML block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141732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jQuery in forms.inc context (members.js):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0" y="1810512"/>
            <a:ext cx="9235440" cy="43936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59952" y="1920240"/>
            <a:ext cx="8948283" cy="40318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1E40AF"/>
                </a:solidFill>
                <a:latin typeface="Courier New"/>
              </a:rPr>
              <a:t>// Live user search — debounced 300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ms</a:t>
            </a:r>
            <a:endParaRPr sz="1600" dirty="0">
              <a:solidFill>
                <a:srgbClr val="1E40AF"/>
              </a:solidFill>
              <a:latin typeface="Courier New"/>
            </a:endParaRP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$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search.bind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keyup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', function () {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clearTimeout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searchTimer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);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searchTimer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 =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setTimeout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(function () { _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doSearch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(q); }, 300);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});</a:t>
            </a:r>
          </a:p>
          <a:p>
            <a:endParaRPr sz="1600" dirty="0">
              <a:solidFill>
                <a:srgbClr val="1E40AF"/>
              </a:solidFill>
              <a:latin typeface="Courier New"/>
            </a:endParaRP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// $.ajax GET to /dynamic-form/ajax/members/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search?q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=...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// Returns JSON array of {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uid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, name, mail}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// Results rendered as dropdown; click adds to in-memory members[]</a:t>
            </a:r>
          </a:p>
          <a:p>
            <a:endParaRPr sz="1600" dirty="0">
              <a:solidFill>
                <a:srgbClr val="1E40AF"/>
              </a:solidFill>
              <a:latin typeface="Courier New"/>
            </a:endParaRP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// On form submit — members[] serialized to hidden input: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function _sync() {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$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hidden.val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JSON.stringify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(members));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}</a:t>
            </a:r>
          </a:p>
          <a:p>
            <a:endParaRPr sz="1600" dirty="0">
              <a:solidFill>
                <a:srgbClr val="1E40AF"/>
              </a:solidFill>
              <a:latin typeface="Courier New"/>
            </a:endParaRP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// All event binding uses .bind() — compatible with all jQuery versions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6963156"/>
            <a:ext cx="50800" cy="9601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646160" y="6963156"/>
            <a:ext cx="7721600" cy="9601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32520" y="7026656"/>
            <a:ext cx="7589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1D4ED8"/>
                </a:solidFill>
              </a:rPr>
              <a:t>members.js</a:t>
            </a:r>
            <a:r>
              <a:rPr sz="1600" b="0" i="0" dirty="0">
                <a:solidFill>
                  <a:srgbClr val="1D4ED8"/>
                </a:solidFill>
              </a:rPr>
              <a:t> runs entirely in JS memory — the member list is only persisted to the DB when the form is saved. The PHP side reads the hidden JSON input and batch-inserts into </a:t>
            </a:r>
            <a:r>
              <a:rPr sz="1600" b="0" i="0" dirty="0" err="1">
                <a:solidFill>
                  <a:srgbClr val="1D4ED8"/>
                </a:solidFill>
              </a:rPr>
              <a:t>dynamic_form_members</a:t>
            </a:r>
            <a:r>
              <a:rPr sz="1600" b="0" i="0" dirty="0">
                <a:solidFill>
                  <a:srgbClr val="1D4ED8"/>
                </a:solidFill>
              </a:rPr>
              <a:t>, then queues notification emails.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7306373"/>
            <a:ext cx="50800" cy="5943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8000" y="7306373"/>
            <a:ext cx="7813040" cy="5943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7369873"/>
            <a:ext cx="7680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059669"/>
                </a:solidFill>
              </a:rPr>
              <a:t>Slug generation: _</a:t>
            </a:r>
            <a:r>
              <a:rPr sz="1600" b="0" i="0" dirty="0" err="1">
                <a:solidFill>
                  <a:srgbClr val="059669"/>
                </a:solidFill>
              </a:rPr>
              <a:t>dynamic_form_generate_slug</a:t>
            </a:r>
            <a:r>
              <a:rPr sz="1600" b="0" i="0" dirty="0">
                <a:solidFill>
                  <a:srgbClr val="059669"/>
                </a:solidFill>
              </a:rPr>
              <a:t>() — lowercase + hyphens + collision counter (my-form → my-form-1 → my-form-2) using a while loop against the DB.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007840" y="9902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6476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38912"/>
            <a:ext cx="17373600" cy="25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includes/dynamic_form.builder.inc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463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</a:rPr>
              <a:t>Form Builder page — SortableJS drag-drop, Drupal AJAX Forms, modal question editor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SortableJS — loaded from CDN: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10511"/>
            <a:ext cx="7863840" cy="580151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920240"/>
            <a:ext cx="753465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1E40AF"/>
                </a:solidFill>
                <a:latin typeface="Courier New"/>
              </a:rPr>
              <a:t>drupal_add_js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'https://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cdn.jsdelivr.net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/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npm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/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sortablejs@latest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/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Sortable.min.js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'external'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);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//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builder.js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 — _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dfbInitSortable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():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function _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dfbInitSortable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(container,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handleSel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,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itemType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, endpoint,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groupName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) {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new Sortable(container, {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handle: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handleSel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group: 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groupName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,   // allows dragging between sections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onEnd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:  function (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evt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) {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// Collect new order from DOM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$(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evt.to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).children('.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dfb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-question-card')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         .each(function (index) { /* read data-id */ });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// POST to /dynamic-form/ajax/builder/reorder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$.ajax({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url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: endpoint, type: 'POST', data: payload, ... });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}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});</a:t>
            </a:r>
            <a:r>
              <a:rPr lang="en-US" sz="1600" dirty="0">
                <a:solidFill>
                  <a:srgbClr val="1E40AF"/>
                </a:solidFill>
                <a:latin typeface="Courier New"/>
              </a:rPr>
              <a:t>}</a:t>
            </a:r>
            <a:endParaRPr sz="1600" dirty="0">
              <a:solidFill>
                <a:srgbClr val="1E40AF"/>
              </a:solidFill>
              <a:latin typeface="Courier New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8000" y="7960008"/>
            <a:ext cx="7813040" cy="648275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8023509"/>
            <a:ext cx="8114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059669"/>
                </a:solidFill>
              </a:rPr>
              <a:t> Drag-drop between sections works via </a:t>
            </a:r>
            <a:r>
              <a:rPr sz="1600" b="0" i="0" dirty="0" err="1">
                <a:solidFill>
                  <a:srgbClr val="059669"/>
                </a:solidFill>
              </a:rPr>
              <a:t>SortableJS</a:t>
            </a:r>
            <a:r>
              <a:rPr sz="1600" b="0" i="0" dirty="0">
                <a:solidFill>
                  <a:srgbClr val="059669"/>
                </a:solidFill>
              </a:rPr>
              <a:t> group option — questions can be moved across sections.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417320"/>
            <a:ext cx="9235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1A2E"/>
                </a:solidFill>
              </a:rPr>
              <a:t>Drupal AJAX Form — sections form: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1810512"/>
            <a:ext cx="9235440" cy="32826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59952" y="1920239"/>
            <a:ext cx="884429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1E40AF"/>
                </a:solidFill>
                <a:latin typeface="Courier New"/>
              </a:rPr>
              <a:t>// Add Section button has #ajax key: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$form['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add_section_btn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']['#ajax'] = array(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'callback' =&gt; 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dynamic_form_builder_sections_ajax_callback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'wrapper'  =&gt; 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dfb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-sections-wrapper',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);</a:t>
            </a:r>
          </a:p>
          <a:p>
            <a:endParaRPr sz="1600" dirty="0">
              <a:solidFill>
                <a:srgbClr val="1E40AF"/>
              </a:solidFill>
              <a:latin typeface="Courier New"/>
            </a:endParaRP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// Callback returns commands array: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$commands[] =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ajax_command_replace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('#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dfb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-sections-wrapper',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          render($form['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sections_wrapper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']));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$commands[] =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ajax_command_invoke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('input[name="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section_name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"]',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          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val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', array(''));  // clear input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return array('#type' =&gt; 'ajax', '#commands' =&gt; $commands);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3750" y="5504688"/>
            <a:ext cx="87861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1A2E"/>
                </a:solidFill>
              </a:rPr>
              <a:t>Question edit modal — loaded on demand: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63751" y="5897880"/>
            <a:ext cx="9184640" cy="268408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81249" y="5992184"/>
            <a:ext cx="95097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1E40AF"/>
                </a:solidFill>
                <a:latin typeface="Courier New"/>
              </a:rPr>
              <a:t>// Click on question card → $.ajax GET: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//   /dynamic-form/ajax/builder/question/{id}/edit-form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// PHP returns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ajax_command_html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() injecting form HTML into modal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// Modal contains full Drupal AJAX form (add/remove options, validations)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// Save button calls _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dfb_question_form_save_ajax_callback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():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$commands[] =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ajax_command_replace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('#question-{id}', $rendered);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$commands[] =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ajax_command_invoke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('#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dfb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-edit-question-modal', 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fadeOut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', ...);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$commands[] =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ajax_command_dfb_toast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('success', t('Saved.'));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07840" y="9902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438912"/>
            <a:ext cx="17373600" cy="25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includes/dynamic_form.questions.inc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463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</a:rPr>
              <a:t>Question CRUD — 12 question types, #states API, add-more options/validations via AJAX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12 question types: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0985" y="1861312"/>
            <a:ext cx="292608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i="0" dirty="0">
                <a:solidFill>
                  <a:srgbClr val="1D4ED8"/>
                </a:solidFill>
              </a:rPr>
              <a:t>Short Text</a:t>
            </a:r>
          </a:p>
          <a:p>
            <a:pPr algn="l"/>
            <a:endParaRPr lang="en-US" sz="1600" b="1" dirty="0">
              <a:solidFill>
                <a:srgbClr val="1D4ED8"/>
              </a:solidFill>
            </a:endParaRPr>
          </a:p>
          <a:p>
            <a:pPr algn="l"/>
            <a:r>
              <a:rPr lang="en-US" sz="1600" b="1" i="0" dirty="0">
                <a:solidFill>
                  <a:srgbClr val="1D4ED8"/>
                </a:solidFill>
              </a:rPr>
              <a:t>Long Text</a:t>
            </a:r>
          </a:p>
          <a:p>
            <a:pPr algn="l"/>
            <a:endParaRPr lang="en-US" sz="1600" b="1" dirty="0">
              <a:solidFill>
                <a:srgbClr val="1D4ED8"/>
              </a:solidFill>
            </a:endParaRPr>
          </a:p>
          <a:p>
            <a:pPr algn="l"/>
            <a:r>
              <a:rPr lang="en-US" sz="1600" b="1" i="0" dirty="0">
                <a:solidFill>
                  <a:srgbClr val="1D4ED8"/>
                </a:solidFill>
              </a:rPr>
              <a:t>Text Editor</a:t>
            </a:r>
          </a:p>
          <a:p>
            <a:pPr algn="l"/>
            <a:endParaRPr lang="en-US" sz="1600" b="1" dirty="0">
              <a:solidFill>
                <a:srgbClr val="1D4ED8"/>
              </a:solidFill>
            </a:endParaRPr>
          </a:p>
          <a:p>
            <a:pPr algn="l"/>
            <a:r>
              <a:rPr lang="en-US" sz="1600" b="1" i="0" dirty="0">
                <a:solidFill>
                  <a:srgbClr val="1D4ED8"/>
                </a:solidFill>
              </a:rPr>
              <a:t>Single Choice</a:t>
            </a:r>
          </a:p>
          <a:p>
            <a:pPr algn="l"/>
            <a:endParaRPr lang="en-US" sz="1600" b="1" dirty="0">
              <a:solidFill>
                <a:srgbClr val="1D4ED8"/>
              </a:solidFill>
            </a:endParaRPr>
          </a:p>
          <a:p>
            <a:pPr algn="l"/>
            <a:r>
              <a:rPr lang="en-US" sz="1600" b="1" i="0" dirty="0">
                <a:solidFill>
                  <a:srgbClr val="1D4ED8"/>
                </a:solidFill>
              </a:rPr>
              <a:t>Multi Choice</a:t>
            </a:r>
          </a:p>
          <a:p>
            <a:pPr algn="l"/>
            <a:endParaRPr lang="en-US" sz="1600" b="1" dirty="0">
              <a:solidFill>
                <a:srgbClr val="1D4ED8"/>
              </a:solidFill>
            </a:endParaRPr>
          </a:p>
          <a:p>
            <a:pPr algn="l"/>
            <a:r>
              <a:rPr lang="en-US" sz="1600" b="1" i="0" dirty="0">
                <a:solidFill>
                  <a:srgbClr val="1D4ED8"/>
                </a:solidFill>
              </a:rPr>
              <a:t>Dropdown</a:t>
            </a:r>
          </a:p>
          <a:p>
            <a:pPr algn="l"/>
            <a:endParaRPr lang="en-US" sz="1600" b="1" dirty="0">
              <a:solidFill>
                <a:srgbClr val="1D4ED8"/>
              </a:solidFill>
            </a:endParaRPr>
          </a:p>
          <a:p>
            <a:pPr algn="l"/>
            <a:r>
              <a:rPr lang="en-US" sz="1600" b="1" i="0" dirty="0">
                <a:solidFill>
                  <a:srgbClr val="1D4ED8"/>
                </a:solidFill>
              </a:rPr>
              <a:t>Tags</a:t>
            </a:r>
          </a:p>
          <a:p>
            <a:pPr algn="l"/>
            <a:endParaRPr lang="en-US" sz="1600" b="1" dirty="0">
              <a:solidFill>
                <a:srgbClr val="1D4ED8"/>
              </a:solidFill>
            </a:endParaRPr>
          </a:p>
          <a:p>
            <a:pPr algn="l"/>
            <a:r>
              <a:rPr lang="en-US" sz="1600" b="1" i="0" dirty="0">
                <a:solidFill>
                  <a:srgbClr val="1D4ED8"/>
                </a:solidFill>
              </a:rPr>
              <a:t>File Upload</a:t>
            </a:r>
          </a:p>
          <a:p>
            <a:pPr algn="l"/>
            <a:endParaRPr lang="en-US" sz="1600" b="1" dirty="0">
              <a:solidFill>
                <a:srgbClr val="1D4ED8"/>
              </a:solidFill>
            </a:endParaRPr>
          </a:p>
          <a:p>
            <a:pPr algn="l"/>
            <a:r>
              <a:rPr lang="en-US" sz="1600" b="1" i="0" dirty="0">
                <a:solidFill>
                  <a:srgbClr val="1D4ED8"/>
                </a:solidFill>
              </a:rPr>
              <a:t>Date </a:t>
            </a:r>
          </a:p>
          <a:p>
            <a:pPr algn="l"/>
            <a:endParaRPr lang="en-US" sz="1600" b="1" dirty="0">
              <a:solidFill>
                <a:srgbClr val="1D4ED8"/>
              </a:solidFill>
            </a:endParaRPr>
          </a:p>
          <a:p>
            <a:pPr algn="l"/>
            <a:r>
              <a:rPr lang="en-US" sz="1600" b="1" i="0" dirty="0">
                <a:solidFill>
                  <a:srgbClr val="1D4ED8"/>
                </a:solidFill>
              </a:rPr>
              <a:t>Time </a:t>
            </a:r>
          </a:p>
          <a:p>
            <a:pPr algn="l"/>
            <a:endParaRPr lang="en-US" sz="1600" b="1" dirty="0">
              <a:solidFill>
                <a:srgbClr val="1D4ED8"/>
              </a:solidFill>
            </a:endParaRPr>
          </a:p>
          <a:p>
            <a:pPr algn="l"/>
            <a:r>
              <a:rPr lang="en-US" sz="1600" b="1" i="0" dirty="0">
                <a:solidFill>
                  <a:srgbClr val="1D4ED8"/>
                </a:solidFill>
              </a:rPr>
              <a:t>Rating </a:t>
            </a:r>
          </a:p>
          <a:p>
            <a:pPr algn="l"/>
            <a:endParaRPr lang="en-US" sz="1600" b="1" dirty="0">
              <a:solidFill>
                <a:srgbClr val="1D4ED8"/>
              </a:solidFill>
            </a:endParaRPr>
          </a:p>
          <a:p>
            <a:pPr algn="l"/>
            <a:r>
              <a:rPr lang="en-US" sz="1600" b="1" dirty="0">
                <a:solidFill>
                  <a:srgbClr val="1D4ED8"/>
                </a:solidFill>
              </a:rPr>
              <a:t>Scale</a:t>
            </a:r>
            <a:endParaRPr lang="en-US" sz="1600" b="1" i="0" dirty="0">
              <a:solidFill>
                <a:srgbClr val="1D4ED8"/>
              </a:solidFill>
            </a:endParaRPr>
          </a:p>
          <a:p>
            <a:pPr algn="l"/>
            <a:endParaRPr sz="1600" b="1" i="0" dirty="0">
              <a:solidFill>
                <a:srgbClr val="1D4ED8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595360" y="141732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1A2E"/>
                </a:solidFill>
              </a:rPr>
              <a:t>Drupal #states API — conditional visibility: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95359" y="1810512"/>
            <a:ext cx="9235439" cy="259994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759952" y="1920240"/>
            <a:ext cx="7837402" cy="25545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1E40AF"/>
                </a:solidFill>
                <a:latin typeface="Courier New"/>
              </a:rPr>
              <a:t>// Options wrapper only shows for select/radio/checkbox types: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$form['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options_wrapper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']['#states'] = array(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'visible' =&gt; array(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':input[name="type"]' =&gt; array(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array('value' =&gt; 'select'),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array('value' =&gt; 'radio'),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array('value' =&gt; 'checkbox'),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),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),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);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5710936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Add-more options — AJAX within Drupal Form API: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95360" y="6104128"/>
            <a:ext cx="9235440" cy="313131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759952" y="6213856"/>
            <a:ext cx="8948283" cy="25545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1E40AF"/>
                </a:solidFill>
                <a:latin typeface="Courier New"/>
              </a:rPr>
              <a:t>// 'Add Option' button triggers AJAX rebuild: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$form['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add_option_btn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']['#ajax'] = array(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'callback' =&gt; '_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dfb_question_options_ajax_callback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'wrapper'  =&gt; 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dfb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-q-options-wrapper',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);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// submit handler increments count in $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form_state</a:t>
            </a:r>
            <a:endParaRPr sz="1600" dirty="0">
              <a:solidFill>
                <a:srgbClr val="1E40AF"/>
              </a:solidFill>
              <a:latin typeface="Courier New"/>
            </a:endParaRP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// callback re-renders only the options wrapper (not full page)</a:t>
            </a:r>
          </a:p>
          <a:p>
            <a:endParaRPr sz="1600" dirty="0">
              <a:solidFill>
                <a:srgbClr val="1E40AF"/>
              </a:solidFill>
              <a:latin typeface="Courier New"/>
            </a:endParaRP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// Same pattern for 'Add Validation Rule' button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// Validation rules: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min_length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,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max_length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, regex, email,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url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, numeric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007840" y="9902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5374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38912"/>
            <a:ext cx="17373600" cy="25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A1A2E"/>
                </a:solidFill>
              </a:rPr>
              <a:t>includes/</a:t>
            </a:r>
            <a:r>
              <a:rPr sz="2800" b="1" i="0" dirty="0" err="1">
                <a:solidFill>
                  <a:srgbClr val="1A1A2E"/>
                </a:solidFill>
              </a:rPr>
              <a:t>dynamic_form.invitations.inc</a:t>
            </a:r>
            <a:endParaRPr sz="2800" b="1" i="0" dirty="0">
              <a:solidFill>
                <a:srgbClr val="1A1A2E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463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</a:rPr>
              <a:t>Token-based email invites — two code paths; session-based post-registration accept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1A2E"/>
                </a:solidFill>
              </a:rPr>
              <a:t>Send flow — two code paths: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199" y="1810512"/>
            <a:ext cx="7988531" cy="51370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3" y="1920240"/>
            <a:ext cx="7699248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1E40AF"/>
                </a:solidFill>
                <a:latin typeface="Courier New"/>
              </a:rPr>
              <a:t>dynamic_form_ajax_invitation_send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()  [POST from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invitations.js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]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│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├──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user_load_by_mail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($email) found?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│      YES → _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dynamic_form_invite_existing_user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()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│             INSERT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dynamic_form_members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 directly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│             _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dynamic_form_queue_member_notifications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()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│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└── NO  → _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dynamic_form_invite_new_email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()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       $token = _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dynamic_form_generate_invite_token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()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              = bin2hex(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drupal_random_bytes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(24))  // 48 hex chars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       INSERT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dynamic_form_invitations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 (status=pending, expires=+7d)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       _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dynamic_form_queue_invite_notification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()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         →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DrupalQueue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::get('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dynamic_form_invite_notify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')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              -&gt;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createItem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(array('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invite_id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 =&gt; ..., ...))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41732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1A2E"/>
                </a:solidFill>
              </a:rPr>
              <a:t>Invitation</a:t>
            </a:r>
            <a:r>
              <a:rPr sz="1400" b="1" i="0" dirty="0">
                <a:solidFill>
                  <a:srgbClr val="1A1A2E"/>
                </a:solidFill>
              </a:rPr>
              <a:t> lifecycle: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1861312"/>
            <a:ext cx="2011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pending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1861312"/>
            <a:ext cx="5577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Token issued, awaiting acceptance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263648"/>
            <a:ext cx="2011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accepted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2263648"/>
            <a:ext cx="5577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accepted_at timestamp set; user_id FK populated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665984"/>
            <a:ext cx="2011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expired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2665984"/>
            <a:ext cx="5577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Set by hook_cron() when expires_at &lt; REQUEST_TIME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3068320"/>
            <a:ext cx="2011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revoked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3068320"/>
            <a:ext cx="5577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revoked_at + revoked_by set by ajax/invitations/%/revoke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5897095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A1A2E"/>
                </a:solidFill>
              </a:rPr>
              <a:t>Resend endpoint: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59" y="6281142"/>
            <a:ext cx="9110749" cy="2588537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59952" y="6390871"/>
            <a:ext cx="8084264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 err="1">
                <a:solidFill>
                  <a:srgbClr val="1E40AF"/>
                </a:solidFill>
                <a:latin typeface="Courier New"/>
              </a:rPr>
              <a:t>dynamic_form_ajax_invitation_resend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($id):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→ UPDATE invitations SET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expires_at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    = REQUEST_TIME + 7*24*3600,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resend_count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  =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resend_count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 + 1,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last_resent_at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 = REQUEST_TIME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→ _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dynamic_form_queue_invite_notification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() — new email queued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07840" y="9902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438912"/>
            <a:ext cx="17373600" cy="25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includes/dynamic_form.preview.inc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463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6B7280"/>
                </a:solidFill>
              </a:rPr>
              <a:t>Form preview renderer — Select2, </a:t>
            </a:r>
            <a:r>
              <a:rPr sz="1400" b="0" i="1" dirty="0" err="1">
                <a:solidFill>
                  <a:srgbClr val="6B7280"/>
                </a:solidFill>
              </a:rPr>
              <a:t>TinyMCE</a:t>
            </a:r>
            <a:endParaRPr sz="1400" b="0" i="1" dirty="0">
              <a:solidFill>
                <a:srgbClr val="6B728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Select2 — conditional loading: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10512"/>
            <a:ext cx="8138160" cy="6603813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621793" y="1920240"/>
            <a:ext cx="7973567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1E40AF"/>
                </a:solidFill>
                <a:latin typeface="Courier New"/>
              </a:rPr>
              <a:t>// Only loaded if the form has 'select' or 'tags' questions: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function _dynamic_form_preview_maybe_load_select2($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form_id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) {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$has_select2 =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db_select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dynamic_form_questions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', 'q')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-&gt;condition('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form_id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', $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form_id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)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-&gt;condition('type', array('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select','tags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'), 'IN')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-&gt;condition('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deleted_at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', NULL, 'IS NULL')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-&gt;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countQuery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()-&gt;execute()-&gt;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fetchField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();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if (!$has_select2) { return; }  // skip assets if not needed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drupal_add_css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('sites/all/libraries/select2/select2.css');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drupal_add_js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('sites/all/libraries/select2/select2.min.js', array('weight' =&gt; 10));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}</a:t>
            </a:r>
          </a:p>
          <a:p>
            <a:endParaRPr sz="1600" dirty="0">
              <a:solidFill>
                <a:srgbClr val="1E40AF"/>
              </a:solidFill>
              <a:latin typeface="Courier New"/>
            </a:endParaRP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// Select2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init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 (Drupal behavior):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$('.dfp-select2').select2({ width: '100%',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allowClear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: TRUE });</a:t>
            </a:r>
          </a:p>
          <a:p>
            <a:endParaRPr sz="1600" dirty="0">
              <a:solidFill>
                <a:srgbClr val="1E40AF"/>
              </a:solidFill>
              <a:latin typeface="Courier New"/>
            </a:endParaRP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// Tags — free-form input using Select2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createSearchChoice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: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$('.dfp-tags-select2').select2({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tags: [],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ajax: {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url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: '/dynamic-form/ajax/tags/autocomplete',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    results: function(data) { return { results: data }; } },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createSearchChoice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: function(term, data) {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return { id: term, text: term };  // allows new tags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}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});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8641080"/>
            <a:ext cx="50800" cy="5943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74160" y="8641080"/>
            <a:ext cx="7813040" cy="59436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60520" y="8704580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97706"/>
                </a:solidFill>
              </a:rPr>
              <a:t>⚠  Select2 works because jQuery 1.12.4 is active (jQuery Update module). Select2 v4 requires .prop() which is only available from jQuery 1.6+.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41732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TinyMCE — conditional loading: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43818" y="1810511"/>
            <a:ext cx="8986982" cy="280720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8759952" y="1920240"/>
            <a:ext cx="907084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1E40AF"/>
                </a:solidFill>
                <a:latin typeface="Courier New"/>
              </a:rPr>
              <a:t>function _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dynamic_form_preview_maybe_load_tinymce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($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form_id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) {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// Only loads if form has '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richtext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 question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$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tinymce_js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 = 'sites/all/libraries/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tinymce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/.../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tinymce.min.js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';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drupal_add_js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($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tinymce_js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, array('type' =&gt; 'file', 'weight' =&gt; 10));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// Init as inline JS (footer, weight 20):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tinymce.init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({ selector: '.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dfp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-text-editor-area',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                 toolbar: 'bold italic | link | </a:t>
            </a:r>
            <a:r>
              <a:rPr sz="1600" dirty="0" err="1">
                <a:solidFill>
                  <a:srgbClr val="1E40AF"/>
                </a:solidFill>
                <a:latin typeface="Courier New"/>
              </a:rPr>
              <a:t>bullist</a:t>
            </a:r>
            <a:r>
              <a:rPr sz="1600" dirty="0">
                <a:solidFill>
                  <a:srgbClr val="1E40AF"/>
                </a:solidFill>
                <a:latin typeface="Courier New"/>
              </a:rPr>
              <a:t>' });</a:t>
            </a:r>
          </a:p>
          <a:p>
            <a:r>
              <a:rPr sz="1600" dirty="0">
                <a:solidFill>
                  <a:srgbClr val="1E40AF"/>
                </a:solidFill>
                <a:latin typeface="Courier New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07840" y="9902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38912"/>
            <a:ext cx="17373600" cy="25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jQuery, Select2 &amp; SortableJS — Technical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463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</a:rPr>
              <a:t>How and where each library is used across the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04568"/>
            <a:ext cx="1581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jQuery 1.12.4  (via jQuery Update module)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97760"/>
            <a:ext cx="158191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594360" y="244856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Why upgraded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448560"/>
            <a:ext cx="12893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1A1A2E"/>
                </a:solidFill>
              </a:rPr>
              <a:t>Drupal 7 ships jQuery 1.4.4 — Select2 v</a:t>
            </a:r>
            <a:r>
              <a:rPr lang="en-US" sz="1600" b="0" i="0" dirty="0">
                <a:solidFill>
                  <a:srgbClr val="1A1A2E"/>
                </a:solidFill>
              </a:rPr>
              <a:t>3</a:t>
            </a:r>
            <a:r>
              <a:rPr sz="1600" b="0" i="0" dirty="0">
                <a:solidFill>
                  <a:srgbClr val="1A1A2E"/>
                </a:solidFill>
              </a:rPr>
              <a:t> requires .prop() (jQuery 1.6+)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81808"/>
            <a:ext cx="15819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TextBox 10"/>
          <p:cNvSpPr txBox="1"/>
          <p:nvPr/>
        </p:nvSpPr>
        <p:spPr>
          <a:xfrm>
            <a:off x="594360" y="2832608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Event binding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832608"/>
            <a:ext cx="12893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.bind() used throughout for compatibility safety; .delegate() for dynamic elements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65856"/>
            <a:ext cx="158191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594360" y="3216656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AJAX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216656"/>
            <a:ext cx="12893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$.ajax() for all custom AJAX calls (member search, invite actions, reorder, section rename)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49904"/>
            <a:ext cx="15819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594360" y="3600704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Drupal behaviors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600704"/>
            <a:ext cx="12893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All JS wrapped in Drupal.behaviors.attach() — safe for AJAX-injected content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33952"/>
            <a:ext cx="158191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TextBox 19"/>
          <p:cNvSpPr txBox="1"/>
          <p:nvPr/>
        </p:nvSpPr>
        <p:spPr>
          <a:xfrm>
            <a:off x="594360" y="3984752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.once()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984752"/>
            <a:ext cx="12893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Prevents double-binding when Drupal re-attaches behaviors after AJAX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09439"/>
            <a:ext cx="1581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Select2  (sites/all/libraries/select2/)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02632"/>
            <a:ext cx="158191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594360" y="4853432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Used for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853432"/>
            <a:ext cx="12893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select questions (multi-select with search) + tags questions (free-form tagging)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186680"/>
            <a:ext cx="15819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7" name="TextBox 26"/>
          <p:cNvSpPr txBox="1"/>
          <p:nvPr/>
        </p:nvSpPr>
        <p:spPr>
          <a:xfrm>
            <a:off x="594360" y="52374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Loading strategy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5237480"/>
            <a:ext cx="12893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Conditionally loaded: only added to page if form contains select or tags questions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570728"/>
            <a:ext cx="158191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0" name="TextBox 29"/>
          <p:cNvSpPr txBox="1"/>
          <p:nvPr/>
        </p:nvSpPr>
        <p:spPr>
          <a:xfrm>
            <a:off x="594360" y="5621528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Tags mode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5621528"/>
            <a:ext cx="12893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createSearchChoice callback allows new values; ajax option hits /dynamic-form/ajax/tags/autocomplete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954776"/>
            <a:ext cx="15819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3" name="TextBox 32"/>
          <p:cNvSpPr txBox="1"/>
          <p:nvPr/>
        </p:nvSpPr>
        <p:spPr>
          <a:xfrm>
            <a:off x="594360" y="6005576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Normalization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6005576"/>
            <a:ext cx="12893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Tag raw input stored in dynamic_form_tag_answers.raw_value; canonical in dynamic_form_tags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57696"/>
            <a:ext cx="1581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SortableJS  (CDN — jsdelivr)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850888"/>
            <a:ext cx="158191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7" name="TextBox 36"/>
          <p:cNvSpPr txBox="1"/>
          <p:nvPr/>
        </p:nvSpPr>
        <p:spPr>
          <a:xfrm>
            <a:off x="594360" y="6901688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Used for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6901688"/>
            <a:ext cx="12893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Drag-and-drop reordering of sections and questions in the builder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7234936"/>
            <a:ext cx="15819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0" name="TextBox 39"/>
          <p:cNvSpPr txBox="1"/>
          <p:nvPr/>
        </p:nvSpPr>
        <p:spPr>
          <a:xfrm>
            <a:off x="594360" y="7285736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Two instances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7285736"/>
            <a:ext cx="12893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#dfb-sections-wrapper (sections) + each .dfb-questions-wrapper (questions per section)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7618984"/>
            <a:ext cx="158191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3" name="TextBox 42"/>
          <p:cNvSpPr txBox="1"/>
          <p:nvPr/>
        </p:nvSpPr>
        <p:spPr>
          <a:xfrm>
            <a:off x="594360" y="7669784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Cross-section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7669784"/>
            <a:ext cx="12893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SortableJS group option allows dragging questions between sections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8003032"/>
            <a:ext cx="15819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6" name="TextBox 45"/>
          <p:cNvSpPr txBox="1"/>
          <p:nvPr/>
        </p:nvSpPr>
        <p:spPr>
          <a:xfrm>
            <a:off x="594360" y="8053832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Persistence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8053832"/>
            <a:ext cx="12893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onEnd callback POSTs new order to /dynamic-form/ajax/builder/reorder — PHP updates position column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007840" y="9902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19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4657</Words>
  <Application>Microsoft Macintosh PowerPoint</Application>
  <PresentationFormat>Custom</PresentationFormat>
  <Paragraphs>516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Office User</cp:lastModifiedBy>
  <cp:revision>3</cp:revision>
  <dcterms:created xsi:type="dcterms:W3CDTF">2013-01-27T09:14:16Z</dcterms:created>
  <dcterms:modified xsi:type="dcterms:W3CDTF">2026-05-05T10:48:44Z</dcterms:modified>
  <cp:category/>
</cp:coreProperties>
</file>